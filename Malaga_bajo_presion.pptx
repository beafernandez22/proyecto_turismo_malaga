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93741" autoAdjust="0"/>
  </p:normalViewPr>
  <p:slideViewPr>
    <p:cSldViewPr snapToGrid="0" snapToObjects="1">
      <p:cViewPr>
        <p:scale>
          <a:sx n="66" d="100"/>
          <a:sy n="66" d="100"/>
        </p:scale>
        <p:origin x="644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67" d="100"/>
        <a:sy n="167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Extranjeros</c:v>
                </c:pt>
              </c:strCache>
            </c:strRef>
          </c:tx>
          <c:spPr>
            <a:ln w="38100" cap="flat">
              <a:solidFill>
                <a:srgbClr val="E8705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705A"/>
              </a:solidFill>
              <a:ln w="9525" cap="flat">
                <a:solidFill>
                  <a:srgbClr val="E8705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E</c:v>
                </c:pt>
                <c:pt idx="1">
                  <c:v>F</c:v>
                </c:pt>
                <c:pt idx="2">
                  <c:v>M</c:v>
                </c:pt>
                <c:pt idx="3">
                  <c:v>A</c:v>
                </c:pt>
                <c:pt idx="4">
                  <c:v>M</c:v>
                </c:pt>
                <c:pt idx="5">
                  <c:v>J</c:v>
                </c:pt>
                <c:pt idx="6">
                  <c:v>J</c:v>
                </c:pt>
                <c:pt idx="7">
                  <c:v>A</c:v>
                </c:pt>
                <c:pt idx="8">
                  <c:v>S</c:v>
                </c:pt>
                <c:pt idx="9">
                  <c:v>O</c:v>
                </c:pt>
                <c:pt idx="10">
                  <c:v>N</c:v>
                </c:pt>
                <c:pt idx="11">
                  <c:v>D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132</c:v>
                </c:pt>
                <c:pt idx="1">
                  <c:v>133</c:v>
                </c:pt>
                <c:pt idx="2">
                  <c:v>161</c:v>
                </c:pt>
                <c:pt idx="3">
                  <c:v>193</c:v>
                </c:pt>
                <c:pt idx="4">
                  <c:v>202</c:v>
                </c:pt>
                <c:pt idx="5">
                  <c:v>173</c:v>
                </c:pt>
                <c:pt idx="6">
                  <c:v>206</c:v>
                </c:pt>
                <c:pt idx="7">
                  <c:v>219</c:v>
                </c:pt>
                <c:pt idx="8">
                  <c:v>207</c:v>
                </c:pt>
                <c:pt idx="9">
                  <c:v>204</c:v>
                </c:pt>
                <c:pt idx="10">
                  <c:v>169</c:v>
                </c:pt>
                <c:pt idx="11">
                  <c:v>148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992-43BF-915E-D77B2735D6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Españoles</c:v>
                </c:pt>
              </c:strCache>
            </c:strRef>
          </c:tx>
          <c:spPr>
            <a:ln w="38100" cap="flat">
              <a:solidFill>
                <a:srgbClr val="3FB8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FB8A8"/>
              </a:solidFill>
              <a:ln w="9525" cap="flat">
                <a:solidFill>
                  <a:srgbClr val="3FB8A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E</c:v>
                </c:pt>
                <c:pt idx="1">
                  <c:v>F</c:v>
                </c:pt>
                <c:pt idx="2">
                  <c:v>M</c:v>
                </c:pt>
                <c:pt idx="3">
                  <c:v>A</c:v>
                </c:pt>
                <c:pt idx="4">
                  <c:v>M</c:v>
                </c:pt>
                <c:pt idx="5">
                  <c:v>J</c:v>
                </c:pt>
                <c:pt idx="6">
                  <c:v>J</c:v>
                </c:pt>
                <c:pt idx="7">
                  <c:v>A</c:v>
                </c:pt>
                <c:pt idx="8">
                  <c:v>S</c:v>
                </c:pt>
                <c:pt idx="9">
                  <c:v>O</c:v>
                </c:pt>
                <c:pt idx="10">
                  <c:v>N</c:v>
                </c:pt>
                <c:pt idx="11">
                  <c:v>D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81</c:v>
                </c:pt>
                <c:pt idx="1">
                  <c:v>83</c:v>
                </c:pt>
                <c:pt idx="2">
                  <c:v>109</c:v>
                </c:pt>
                <c:pt idx="3">
                  <c:v>99</c:v>
                </c:pt>
                <c:pt idx="4">
                  <c:v>97</c:v>
                </c:pt>
                <c:pt idx="5">
                  <c:v>113</c:v>
                </c:pt>
                <c:pt idx="6">
                  <c:v>109</c:v>
                </c:pt>
                <c:pt idx="7">
                  <c:v>119</c:v>
                </c:pt>
                <c:pt idx="8">
                  <c:v>87</c:v>
                </c:pt>
                <c:pt idx="9">
                  <c:v>85</c:v>
                </c:pt>
                <c:pt idx="10">
                  <c:v>84</c:v>
                </c:pt>
                <c:pt idx="11">
                  <c:v>102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992-43BF-915E-D77B2735D6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FB6C3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0"/>
          <c:min val="0"/>
        </c:scaling>
        <c:delete val="0"/>
        <c:axPos val="l"/>
        <c:majorGridlines>
          <c:spPr>
            <a:ln w="9525" cap="flat">
              <a:solidFill>
                <a:srgbClr val="2850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FB6C3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5EEE6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3967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D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0D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Málaga bajo presión  ·  Beatriz Fernández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6C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6C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p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74320"/>
            <a:ext cx="5681350" cy="609356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229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70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DE DATOS  ·  MÁLAGA CAPITAL  ·  2023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64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Málaga</a:t>
            </a:r>
            <a:endParaRPr lang="en-US" sz="6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6400" b="1" dirty="0">
                <a:solidFill>
                  <a:srgbClr val="E87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bajo presión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¿Molesta más el turismo allí donde hay más pisos turísticos?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548640" y="5669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Beatriz Fernández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70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CONTEXTO</a:t>
            </a:r>
            <a:endParaRPr lang="en-US" sz="1100" dirty="0"/>
          </a:p>
        </p:txBody>
      </p:sp>
      <p:sp>
        <p:nvSpPr>
          <p:cNvPr id="3" name="titulo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Málaga, 2023: una ciudad llena de visitantes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75304" cy="2514600"/>
          </a:xfrm>
          <a:prstGeom prst="roundRect">
            <a:avLst>
              <a:gd name="adj" fmla="val 4364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777240" cy="777240"/>
          </a:xfrm>
          <a:prstGeom prst="ellipse">
            <a:avLst/>
          </a:prstGeom>
          <a:solidFill>
            <a:srgbClr val="1D4560"/>
          </a:solidFill>
          <a:ln w="12700">
            <a:solidFill>
              <a:srgbClr val="1D45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18" y="215249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rgbClr val="F4B8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1,5 M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viajeros se alojaron en hoteles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06824" y="1691640"/>
            <a:ext cx="3575304" cy="2514600"/>
          </a:xfrm>
          <a:prstGeom prst="roundRect">
            <a:avLst>
              <a:gd name="adj" fmla="val 4364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26864" y="1965960"/>
            <a:ext cx="777240" cy="777240"/>
          </a:xfrm>
          <a:prstGeom prst="ellipse">
            <a:avLst/>
          </a:prstGeom>
          <a:solidFill>
            <a:srgbClr val="1D4560"/>
          </a:solidFill>
          <a:ln w="12700">
            <a:solidFill>
              <a:srgbClr val="1D456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402" y="215249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26864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rgbClr val="F4B8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3,3 M</a:t>
            </a:r>
            <a:endParaRPr lang="en-US" sz="4400" dirty="0"/>
          </a:p>
        </p:txBody>
      </p:sp>
      <p:sp>
        <p:nvSpPr>
          <p:cNvPr id="13" name="Text 9"/>
          <p:cNvSpPr txBox="1"/>
          <p:nvPr/>
        </p:nvSpPr>
        <p:spPr>
          <a:xfrm>
            <a:off x="4626864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noches de hotel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065008" y="1691640"/>
            <a:ext cx="3575304" cy="2514600"/>
          </a:xfrm>
          <a:prstGeom prst="roundRect">
            <a:avLst>
              <a:gd name="adj" fmla="val 4364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85048" y="1965960"/>
            <a:ext cx="777240" cy="777240"/>
          </a:xfrm>
          <a:prstGeom prst="ellipse">
            <a:avLst/>
          </a:prstGeom>
          <a:solidFill>
            <a:srgbClr val="1D4560"/>
          </a:solidFill>
          <a:ln w="12700">
            <a:solidFill>
              <a:srgbClr val="1D456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1586" y="215249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85048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rgbClr val="F4B8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≈ 10.000</a:t>
            </a:r>
            <a:endParaRPr lang="en-US" sz="4400" dirty="0"/>
          </a:p>
        </p:txBody>
      </p:sp>
      <p:sp>
        <p:nvSpPr>
          <p:cNvPr id="18" name="Text 13"/>
          <p:cNvSpPr txBox="1"/>
          <p:nvPr/>
        </p:nvSpPr>
        <p:spPr>
          <a:xfrm>
            <a:off x="8385048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VUT </a:t>
            </a:r>
            <a:r>
              <a:rPr lang="en-US" sz="1600" dirty="0" err="1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localizadas</a:t>
            </a:r>
            <a:r>
              <a:rPr lang="en-US" sz="16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</a:t>
            </a:r>
            <a:r>
              <a:rPr lang="en-US" sz="16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distrito</a:t>
            </a:r>
            <a:r>
              <a:rPr lang="en-US" sz="16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48640" y="4480560"/>
            <a:ext cx="11091672" cy="1325880"/>
          </a:xfrm>
          <a:prstGeom prst="roundRect">
            <a:avLst>
              <a:gd name="adj" fmla="val 8276"/>
            </a:avLst>
          </a:prstGeom>
          <a:solidFill>
            <a:srgbClr val="1D4560"/>
          </a:solidFill>
          <a:ln w="12700">
            <a:solidFill>
              <a:srgbClr val="1D456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914400" y="448056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7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 pregunta:  </a:t>
            </a:r>
            <a:r>
              <a:rPr lang="en-US" sz="28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¿lo viven igual todos </a:t>
            </a:r>
            <a:r>
              <a:rPr lang="en-US" sz="2800" b="1" dirty="0" err="1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</a:t>
            </a:r>
            <a:r>
              <a:rPr lang="en-US" sz="28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800" b="1" dirty="0" err="1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distritos</a:t>
            </a:r>
            <a:r>
              <a:rPr lang="en-US" sz="28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28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Viviendas de uso turístico (VUT). Fuentes: INE y Junta de Andalucía.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6C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70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 HIPÓTESIS</a:t>
            </a:r>
            <a:endParaRPr lang="en-US" sz="1100" dirty="0"/>
          </a:p>
        </p:txBody>
      </p:sp>
      <p:sp>
        <p:nvSpPr>
          <p:cNvPr id="3" name="titulo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 </a:t>
            </a:r>
            <a:r>
              <a:rPr lang="en-US" sz="2800" b="1" dirty="0" err="1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hipótesis</a:t>
            </a:r>
            <a:r>
              <a:rPr lang="en-US" sz="28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antes de mirar los datos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64592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Donde hay más pisos turísticos, los vecinos ven el turismo con </a:t>
            </a:r>
            <a:r>
              <a:rPr lang="en-US" sz="3200" b="1" dirty="0" err="1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peores</a:t>
            </a:r>
            <a:r>
              <a:rPr lang="en-US" sz="32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ojos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429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convertí en tres hipótesis que se pueden comprobar con datos: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931920"/>
            <a:ext cx="3514344" cy="1600200"/>
          </a:xfrm>
          <a:prstGeom prst="roundRect">
            <a:avLst>
              <a:gd name="adj" fmla="val 6857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4114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E87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617720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6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percepción del turismo varía entre distritos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37304" y="3931920"/>
            <a:ext cx="3514344" cy="1600200"/>
          </a:xfrm>
          <a:prstGeom prst="roundRect">
            <a:avLst>
              <a:gd name="adj" fmla="val 6857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1624" y="4114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E87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4611624" y="4617720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6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mayor presión turística, mayor percepción negativa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25968" y="3931920"/>
            <a:ext cx="3514344" cy="1600200"/>
          </a:xfrm>
          <a:prstGeom prst="roundRect">
            <a:avLst>
              <a:gd name="adj" fmla="val 6857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00288" y="4114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E87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H3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400288" y="4617720"/>
            <a:ext cx="2965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6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mayor concentración de VUT se asocia con una mayor percepción negativa</a:t>
            </a:r>
            <a:endParaRPr lang="en-US" sz="16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779008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60120" y="57790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 puse en el lugar del Ayuntamiento de Málaga: equilibrar turismo y calidad de vida.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6C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70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</a:t>
            </a:r>
            <a:endParaRPr lang="en-US" sz="1100" dirty="0"/>
          </a:p>
        </p:txBody>
      </p:sp>
      <p:sp>
        <p:nvSpPr>
          <p:cNvPr id="3" name="titulo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Cómo lo investigué, en 4 pasos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464308" cy="2788920"/>
          </a:xfrm>
          <a:prstGeom prst="roundRect">
            <a:avLst>
              <a:gd name="adj" fmla="val 4453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235708" y="18745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3456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868680" cy="868680"/>
          </a:xfrm>
          <a:prstGeom prst="ellipse">
            <a:avLst/>
          </a:prstGeom>
          <a:solidFill>
            <a:srgbClr val="E8705A"/>
          </a:solidFill>
          <a:ln w="12700">
            <a:solidFill>
              <a:srgbClr val="E8705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17" y="2191817"/>
            <a:ext cx="416966" cy="41696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063240"/>
            <a:ext cx="1915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Recopilar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66160"/>
            <a:ext cx="19613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de 4 fuentes públicas oficiales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086100" y="2404872"/>
            <a:ext cx="265176" cy="0"/>
          </a:xfrm>
          <a:prstGeom prst="line">
            <a:avLst/>
          </a:prstGeom>
          <a:noFill/>
          <a:ln w="25400">
            <a:solidFill>
              <a:srgbClr val="9FB6C3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24428" y="1691640"/>
            <a:ext cx="2464308" cy="2788918"/>
          </a:xfrm>
          <a:prstGeom prst="roundRect">
            <a:avLst>
              <a:gd name="adj" fmla="val 4453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11496" y="18745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3456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Shape 11"/>
          <p:cNvSpPr/>
          <p:nvPr/>
        </p:nvSpPr>
        <p:spPr>
          <a:xfrm>
            <a:off x="3698748" y="1965960"/>
            <a:ext cx="868680" cy="868680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605" y="2191817"/>
            <a:ext cx="416966" cy="41696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698748" y="3063240"/>
            <a:ext cx="1915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Limpiar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3698748" y="3566160"/>
            <a:ext cx="19613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Corregir formatos y quitar datos incompletos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5961888" y="2404872"/>
            <a:ext cx="265176" cy="0"/>
          </a:xfrm>
          <a:prstGeom prst="line">
            <a:avLst/>
          </a:prstGeom>
          <a:noFill/>
          <a:ln w="25400">
            <a:solidFill>
              <a:srgbClr val="9FB6C3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6300216" y="1691640"/>
            <a:ext cx="2464308" cy="2788916"/>
          </a:xfrm>
          <a:prstGeom prst="roundRect">
            <a:avLst>
              <a:gd name="adj" fmla="val 4453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987284" y="18745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3456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4000" dirty="0"/>
          </a:p>
        </p:txBody>
      </p:sp>
      <p:sp>
        <p:nvSpPr>
          <p:cNvPr id="22" name="Shape 18"/>
          <p:cNvSpPr/>
          <p:nvPr/>
        </p:nvSpPr>
        <p:spPr>
          <a:xfrm>
            <a:off x="6574536" y="1965960"/>
            <a:ext cx="868680" cy="868680"/>
          </a:xfrm>
          <a:prstGeom prst="ellipse">
            <a:avLst/>
          </a:prstGeom>
          <a:solidFill>
            <a:srgbClr val="3FB8A8"/>
          </a:solidFill>
          <a:ln w="12700">
            <a:solidFill>
              <a:srgbClr val="3FB8A8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393" y="2191817"/>
            <a:ext cx="416966" cy="41696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574536" y="3063240"/>
            <a:ext cx="1915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Ubicar</a:t>
            </a:r>
            <a:endParaRPr lang="en-US" sz="2200" dirty="0"/>
          </a:p>
        </p:txBody>
      </p:sp>
      <p:sp>
        <p:nvSpPr>
          <p:cNvPr id="25" name="Text 20"/>
          <p:cNvSpPr txBox="1"/>
          <p:nvPr/>
        </p:nvSpPr>
        <p:spPr>
          <a:xfrm>
            <a:off x="6574536" y="3566160"/>
            <a:ext cx="19613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piso turístico en su distrito, como chinchetas en un mapa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8837676" y="2404872"/>
            <a:ext cx="265176" cy="0"/>
          </a:xfrm>
          <a:prstGeom prst="line">
            <a:avLst/>
          </a:prstGeom>
          <a:noFill/>
          <a:ln w="25400">
            <a:solidFill>
              <a:srgbClr val="9FB6C3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9176004" y="1691640"/>
            <a:ext cx="2464308" cy="2788913"/>
          </a:xfrm>
          <a:prstGeom prst="roundRect">
            <a:avLst>
              <a:gd name="adj" fmla="val 4453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10863072" y="18745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3456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4000" dirty="0"/>
          </a:p>
        </p:txBody>
      </p:sp>
      <p:sp>
        <p:nvSpPr>
          <p:cNvPr id="30" name="Shape 25"/>
          <p:cNvSpPr/>
          <p:nvPr/>
        </p:nvSpPr>
        <p:spPr>
          <a:xfrm>
            <a:off x="9450324" y="1965960"/>
            <a:ext cx="868680" cy="868680"/>
          </a:xfrm>
          <a:prstGeom prst="ellipse">
            <a:avLst/>
          </a:prstGeom>
          <a:solidFill>
            <a:srgbClr val="B5546A"/>
          </a:solidFill>
          <a:ln w="12700">
            <a:solidFill>
              <a:srgbClr val="B5546A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6181" y="2191817"/>
            <a:ext cx="416966" cy="41696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450324" y="3063240"/>
            <a:ext cx="1915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Analizar</a:t>
            </a:r>
            <a:endParaRPr lang="en-US" sz="2200" dirty="0"/>
          </a:p>
        </p:txBody>
      </p:sp>
      <p:sp>
        <p:nvSpPr>
          <p:cNvPr id="33" name="Text 27"/>
          <p:cNvSpPr txBox="1"/>
          <p:nvPr/>
        </p:nvSpPr>
        <p:spPr>
          <a:xfrm>
            <a:off x="9450324" y="3566160"/>
            <a:ext cx="19613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Comparar distritos y medir si las cosas van de la mano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548640" y="4910809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70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4 FUENTES</a:t>
            </a:r>
            <a:endParaRPr lang="en-US" sz="1100" dirty="0"/>
          </a:p>
        </p:txBody>
      </p:sp>
      <p:sp>
        <p:nvSpPr>
          <p:cNvPr id="36" name="Text 30"/>
          <p:cNvSpPr txBox="1"/>
          <p:nvPr/>
        </p:nvSpPr>
        <p:spPr>
          <a:xfrm>
            <a:off x="548640" y="5339133"/>
            <a:ext cx="2464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INE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548640" y="5613453"/>
            <a:ext cx="2464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viajeros y noches de hotel</a:t>
            </a:r>
            <a:endParaRPr lang="en-US" sz="1200" dirty="0"/>
          </a:p>
        </p:txBody>
      </p:sp>
      <p:sp>
        <p:nvSpPr>
          <p:cNvPr id="38" name="Text 32"/>
          <p:cNvSpPr txBox="1"/>
          <p:nvPr/>
        </p:nvSpPr>
        <p:spPr>
          <a:xfrm>
            <a:off x="3443679" y="5339133"/>
            <a:ext cx="2464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Junta de Andalucía</a:t>
            </a:r>
            <a:endParaRPr lang="en-US" sz="1300" dirty="0"/>
          </a:p>
        </p:txBody>
      </p:sp>
      <p:sp>
        <p:nvSpPr>
          <p:cNvPr id="39" name="Text 33"/>
          <p:cNvSpPr txBox="1"/>
          <p:nvPr/>
        </p:nvSpPr>
        <p:spPr>
          <a:xfrm>
            <a:off x="3424428" y="5609603"/>
            <a:ext cx="2464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de pisos turísticos</a:t>
            </a:r>
            <a:endParaRPr lang="en-US" sz="1200" dirty="0"/>
          </a:p>
        </p:txBody>
      </p:sp>
      <p:sp>
        <p:nvSpPr>
          <p:cNvPr id="40" name="Text 34"/>
          <p:cNvSpPr txBox="1"/>
          <p:nvPr/>
        </p:nvSpPr>
        <p:spPr>
          <a:xfrm>
            <a:off x="6300216" y="5339133"/>
            <a:ext cx="2464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Observatorio de Turismo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300216" y="5650992"/>
            <a:ext cx="2464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opinión de los vecinos</a:t>
            </a:r>
            <a:endParaRPr lang="en-US" sz="1200" dirty="0"/>
          </a:p>
        </p:txBody>
      </p:sp>
      <p:sp>
        <p:nvSpPr>
          <p:cNvPr id="42" name="Text 36"/>
          <p:cNvSpPr txBox="1"/>
          <p:nvPr/>
        </p:nvSpPr>
        <p:spPr>
          <a:xfrm>
            <a:off x="9156753" y="5339133"/>
            <a:ext cx="2464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Ayuntamiento</a:t>
            </a:r>
            <a:endParaRPr lang="en-US" sz="1300" dirty="0"/>
          </a:p>
        </p:txBody>
      </p:sp>
      <p:sp>
        <p:nvSpPr>
          <p:cNvPr id="43" name="Text 37"/>
          <p:cNvSpPr txBox="1"/>
          <p:nvPr/>
        </p:nvSpPr>
        <p:spPr>
          <a:xfrm>
            <a:off x="9176004" y="5656767"/>
            <a:ext cx="2464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mapa de distritos</a:t>
            </a:r>
            <a:endParaRPr lang="en-US" sz="12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6C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70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LIMPIEZA DE DATOS</a:t>
            </a:r>
            <a:endParaRPr lang="en-US" sz="1100" dirty="0"/>
          </a:p>
        </p:txBody>
      </p:sp>
      <p:sp>
        <p:nvSpPr>
          <p:cNvPr id="3" name="titulo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 de analizar, toca limpiar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035040" cy="777240"/>
          </a:xfrm>
          <a:prstGeom prst="roundRect">
            <a:avLst>
              <a:gd name="adj" fmla="val 11765"/>
            </a:avLst>
          </a:prstGeom>
          <a:solidFill>
            <a:srgbClr val="34566B"/>
          </a:solidFill>
          <a:ln w="12700">
            <a:solidFill>
              <a:srgbClr val="3456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12.616  </a:t>
            </a:r>
            <a:r>
              <a:rPr lang="en-US" sz="14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pisos turísticos registrados en Málaga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50392" y="2697480"/>
            <a:ext cx="5431536" cy="777240"/>
          </a:xfrm>
          <a:prstGeom prst="roundRect">
            <a:avLst>
              <a:gd name="adj" fmla="val 11765"/>
            </a:avLst>
          </a:prstGeom>
          <a:solidFill>
            <a:srgbClr val="34566B"/>
          </a:solidFill>
          <a:ln w="12700">
            <a:solidFill>
              <a:srgbClr val="3456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87552" y="2697480"/>
            <a:ext cx="5157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10.134  </a:t>
            </a:r>
            <a:r>
              <a:rPr lang="en-US" sz="14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de alta hasta finales de 2023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152144" y="3657600"/>
            <a:ext cx="4828032" cy="777240"/>
          </a:xfrm>
          <a:prstGeom prst="roundRect">
            <a:avLst>
              <a:gd name="adj" fmla="val 11765"/>
            </a:avLst>
          </a:prstGeom>
          <a:solidFill>
            <a:srgbClr val="34566B"/>
          </a:solidFill>
          <a:ln w="12700">
            <a:solidFill>
              <a:srgbClr val="3456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9304" y="3657600"/>
            <a:ext cx="4553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10.071  </a:t>
            </a:r>
            <a:r>
              <a:rPr lang="en-US" sz="14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ubicación en el mapa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453896" y="4617720"/>
            <a:ext cx="4224528" cy="777240"/>
          </a:xfrm>
          <a:prstGeom prst="roundRect">
            <a:avLst>
              <a:gd name="adj" fmla="val 11765"/>
            </a:avLst>
          </a:prstGeom>
          <a:solidFill>
            <a:srgbClr val="E8705A"/>
          </a:solidFill>
          <a:ln w="12700">
            <a:solidFill>
              <a:srgbClr val="E870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91056" y="4617720"/>
            <a:ext cx="3950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2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9.991  </a:t>
            </a:r>
            <a:r>
              <a:rPr lang="en-US" sz="1400" dirty="0">
                <a:solidFill>
                  <a:srgbClr val="0D22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dentro de un distrito de Málaga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70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PROBLEMAS QUE ME ENCONTRÉ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86600" y="2148840"/>
            <a:ext cx="640080" cy="640080"/>
          </a:xfrm>
          <a:prstGeom prst="ellipse">
            <a:avLst/>
          </a:prstGeom>
          <a:solidFill>
            <a:srgbClr val="1D4560"/>
          </a:solidFill>
          <a:ln w="12700">
            <a:solidFill>
              <a:srgbClr val="1D4560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422" y="2321662"/>
            <a:ext cx="294437" cy="29443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909560" y="2130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Números escritos como texto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909560" y="24780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«73,88» no se puede sumar → 73.88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086600" y="3136392"/>
            <a:ext cx="640080" cy="640080"/>
          </a:xfrm>
          <a:prstGeom prst="ellipse">
            <a:avLst/>
          </a:prstGeom>
          <a:solidFill>
            <a:srgbClr val="1D4560"/>
          </a:solidFill>
          <a:ln w="12700">
            <a:solidFill>
              <a:srgbClr val="1D4560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9422" y="3309214"/>
            <a:ext cx="294437" cy="294437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909560" y="31181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Fechas sin formato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7909560" y="34655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«20160601» → 1 de junio de 2016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7086600" y="4123944"/>
            <a:ext cx="640080" cy="640080"/>
          </a:xfrm>
          <a:prstGeom prst="ellipse">
            <a:avLst/>
          </a:prstGeom>
          <a:solidFill>
            <a:srgbClr val="1D4560"/>
          </a:solidFill>
          <a:ln w="12700">
            <a:solidFill>
              <a:srgbClr val="1D4560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9422" y="4296766"/>
            <a:ext cx="294437" cy="29443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909560" y="41056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archivo con 3 formatos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909560" y="44531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columnas cambiaban de sitio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7086600" y="5120640"/>
            <a:ext cx="4553712" cy="731520"/>
          </a:xfrm>
          <a:prstGeom prst="roundRect">
            <a:avLst>
              <a:gd name="adj" fmla="val 15000"/>
            </a:avLst>
          </a:prstGeom>
          <a:solidFill>
            <a:srgbClr val="1D4560"/>
          </a:solidFill>
          <a:ln w="12700">
            <a:solidFill>
              <a:srgbClr val="1D456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269480" y="5257800"/>
            <a:ext cx="457200" cy="457200"/>
          </a:xfrm>
          <a:prstGeom prst="ellipse">
            <a:avLst/>
          </a:prstGeom>
          <a:solidFill>
            <a:srgbClr val="3FB8A8"/>
          </a:solidFill>
          <a:ln w="12700">
            <a:solidFill>
              <a:srgbClr val="3FB8A8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2" y="5376672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909560" y="5120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Resultado: una tabla limpia por distrito</a:t>
            </a:r>
            <a:endParaRPr lang="en-US" sz="15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6C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70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  ·  BASE DE DATOS</a:t>
            </a:r>
            <a:endParaRPr lang="en-US" sz="1100" dirty="0"/>
          </a:p>
        </p:txBody>
      </p:sp>
      <p:sp>
        <p:nvSpPr>
          <p:cNvPr id="3" name="titulo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Todo ordenado en una base de datos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883664"/>
          </a:xfrm>
          <a:prstGeom prst="roundRect">
            <a:avLst>
              <a:gd name="adj" fmla="val 5825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74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Pisos turísticos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514600"/>
            <a:ext cx="201168" cy="2011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468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8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distrito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nombre del distrito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3127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nº de pisos turísticos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767328"/>
            <a:ext cx="3520440" cy="2212848"/>
          </a:xfrm>
          <a:prstGeom prst="roundRect">
            <a:avLst>
              <a:gd name="adj" fmla="val 4959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5020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904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Opinión de los vecinos</a:t>
            </a:r>
            <a:endParaRPr lang="en-US" sz="15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590288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4544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8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distrito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1188720" y="48737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opinión positiva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1188720" y="52029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opinión negativa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1188720" y="5532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sin respuesta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114800" y="2514600"/>
            <a:ext cx="411480" cy="731520"/>
          </a:xfrm>
          <a:prstGeom prst="line">
            <a:avLst/>
          </a:prstGeom>
          <a:noFill/>
          <a:ln w="19050">
            <a:solidFill>
              <a:srgbClr val="9FB6C3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 flipV="1">
            <a:off x="4114800" y="3886200"/>
            <a:ext cx="457200" cy="731520"/>
          </a:xfrm>
          <a:prstGeom prst="line">
            <a:avLst/>
          </a:prstGeom>
          <a:noFill/>
          <a:ln w="19050">
            <a:solidFill>
              <a:srgbClr val="9FB6C3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4572000" y="2971800"/>
            <a:ext cx="2057400" cy="1188720"/>
          </a:xfrm>
          <a:prstGeom prst="roundRect">
            <a:avLst>
              <a:gd name="adj" fmla="val 9231"/>
            </a:avLst>
          </a:prstGeom>
          <a:solidFill>
            <a:srgbClr val="1D4560"/>
          </a:solidFill>
          <a:ln w="12700">
            <a:solidFill>
              <a:srgbClr val="1D4560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709160" y="30906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Vista conjunta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4709160" y="3429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fila por distrito, con pisos y opinión juntos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7097222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70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DE MIS CONSULTAS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7086600" y="2843784"/>
            <a:ext cx="4553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¿Qué distritos superan la media de rechazo (12,4 %)?</a:t>
            </a:r>
            <a:endParaRPr lang="en-US" sz="1700" dirty="0"/>
          </a:p>
        </p:txBody>
      </p:sp>
      <p:sp>
        <p:nvSpPr>
          <p:cNvPr id="30" name="Text 24"/>
          <p:cNvSpPr txBox="1"/>
          <p:nvPr/>
        </p:nvSpPr>
        <p:spPr>
          <a:xfrm>
            <a:off x="7086600" y="3703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Churriana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9098280" y="3767328"/>
            <a:ext cx="1600200" cy="237744"/>
          </a:xfrm>
          <a:prstGeom prst="roundRect">
            <a:avLst>
              <a:gd name="adj" fmla="val 19231"/>
            </a:avLst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10789920" y="37033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8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39,5 %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7086600" y="417880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Centro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9098280" y="4242816"/>
            <a:ext cx="740300" cy="237744"/>
          </a:xfrm>
          <a:prstGeom prst="roundRect">
            <a:avLst>
              <a:gd name="adj" fmla="val 19231"/>
            </a:avLst>
          </a:prstGeom>
          <a:solidFill>
            <a:srgbClr val="E8705A"/>
          </a:solidFill>
          <a:ln w="12700">
            <a:solidFill>
              <a:srgbClr val="E8705A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9930020" y="41788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18,3 %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7086600" y="465429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Carretera de Cádiz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9098280" y="4718304"/>
            <a:ext cx="650702" cy="237744"/>
          </a:xfrm>
          <a:prstGeom prst="roundRect">
            <a:avLst>
              <a:gd name="adj" fmla="val 19231"/>
            </a:avLst>
          </a:prstGeom>
          <a:solidFill>
            <a:srgbClr val="E8705A"/>
          </a:solidFill>
          <a:ln w="12700">
            <a:solidFill>
              <a:srgbClr val="E8705A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9840422" y="465429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16,1 %</a:t>
            </a:r>
            <a:endParaRPr lang="en-US" sz="1300" dirty="0"/>
          </a:p>
        </p:txBody>
      </p:sp>
      <p:sp>
        <p:nvSpPr>
          <p:cNvPr id="39" name="Text 33"/>
          <p:cNvSpPr txBox="1"/>
          <p:nvPr/>
        </p:nvSpPr>
        <p:spPr>
          <a:xfrm>
            <a:off x="7086600" y="51297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Cruz de Humilladero</a:t>
            </a:r>
            <a:endParaRPr lang="en-US" sz="1300" dirty="0"/>
          </a:p>
        </p:txBody>
      </p:sp>
      <p:sp>
        <p:nvSpPr>
          <p:cNvPr id="40" name="Shape 34"/>
          <p:cNvSpPr/>
          <p:nvPr/>
        </p:nvSpPr>
        <p:spPr>
          <a:xfrm>
            <a:off x="9098280" y="5193792"/>
            <a:ext cx="570023" cy="237744"/>
          </a:xfrm>
          <a:prstGeom prst="roundRect">
            <a:avLst>
              <a:gd name="adj" fmla="val 19231"/>
            </a:avLst>
          </a:prstGeom>
          <a:solidFill>
            <a:srgbClr val="E8705A"/>
          </a:solidFill>
          <a:ln w="12700">
            <a:solidFill>
              <a:srgbClr val="E8705A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9759743" y="512978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14,1 %</a:t>
            </a:r>
            <a:endParaRPr lang="en-US" sz="1300" dirty="0"/>
          </a:p>
        </p:txBody>
      </p:sp>
      <p:sp>
        <p:nvSpPr>
          <p:cNvPr id="42" name="Text 36"/>
          <p:cNvSpPr txBox="1"/>
          <p:nvPr/>
        </p:nvSpPr>
        <p:spPr>
          <a:xfrm>
            <a:off x="7086600" y="56052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Bailén-Miraflores</a:t>
            </a:r>
            <a:endParaRPr lang="en-US" sz="1300" dirty="0"/>
          </a:p>
        </p:txBody>
      </p:sp>
      <p:sp>
        <p:nvSpPr>
          <p:cNvPr id="43" name="Shape 37"/>
          <p:cNvSpPr/>
          <p:nvPr/>
        </p:nvSpPr>
        <p:spPr>
          <a:xfrm>
            <a:off x="9098280" y="5669280"/>
            <a:ext cx="506777" cy="237744"/>
          </a:xfrm>
          <a:prstGeom prst="roundRect">
            <a:avLst>
              <a:gd name="adj" fmla="val 19231"/>
            </a:avLst>
          </a:prstGeom>
          <a:solidFill>
            <a:srgbClr val="E8705A"/>
          </a:solidFill>
          <a:ln w="12700">
            <a:solidFill>
              <a:srgbClr val="E8705A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9696497" y="56052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12,5 %</a:t>
            </a:r>
            <a:endParaRPr lang="en-US" sz="13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6C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70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DESCUBRÍ  ·  1</a:t>
            </a:r>
            <a:endParaRPr lang="en-US" sz="1100" dirty="0"/>
          </a:p>
        </p:txBody>
      </p:sp>
      <p:sp>
        <p:nvSpPr>
          <p:cNvPr id="3" name="titulo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de cada 3 noches de hotel son de turistas extranjeros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5960"/>
            <a:ext cx="1325880" cy="13258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965960"/>
            <a:ext cx="1325880" cy="132588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1965960"/>
            <a:ext cx="1325880" cy="132588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E87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65 %</a:t>
            </a:r>
            <a:endParaRPr lang="en-US" sz="48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4343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turistas extranjeros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3611880" y="3520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3FB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35 %</a:t>
            </a:r>
            <a:endParaRPr lang="en-US" sz="4800" dirty="0"/>
          </a:p>
        </p:txBody>
      </p:sp>
      <p:sp>
        <p:nvSpPr>
          <p:cNvPr id="10" name="Text 5"/>
          <p:cNvSpPr txBox="1"/>
          <p:nvPr/>
        </p:nvSpPr>
        <p:spPr>
          <a:xfrm>
            <a:off x="3611880" y="4343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turistas españoles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50292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no es solo en verano: los extranjeros superan a los españoles los 12 meses del año.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172200" y="1691640"/>
            <a:ext cx="5468112" cy="4206240"/>
          </a:xfrm>
          <a:prstGeom prst="roundRect">
            <a:avLst>
              <a:gd name="adj" fmla="val 2609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44652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Noches de hotel cada mes (miles)</a:t>
            </a:r>
            <a:endParaRPr lang="en-US" sz="14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6309360" y="2194560"/>
          <a:ext cx="521208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Text 9"/>
          <p:cNvSpPr txBox="1"/>
          <p:nvPr/>
        </p:nvSpPr>
        <p:spPr>
          <a:xfrm>
            <a:off x="548640" y="5989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INE, Encuesta de Ocupación Hotelera, 2023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6C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70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DESCUBRÍ  ·  2</a:t>
            </a:r>
            <a:endParaRPr lang="en-US" sz="1100" dirty="0"/>
          </a:p>
        </p:txBody>
      </p:sp>
      <p:sp>
        <p:nvSpPr>
          <p:cNvPr id="3" name="titulo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cada 100 pisos turísticos, 63 están en el Centro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35219" cy="33521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645920"/>
            <a:ext cx="335219" cy="335219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336" y="1645920"/>
            <a:ext cx="335219" cy="335219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104" y="1645920"/>
            <a:ext cx="335219" cy="335219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872" y="1645920"/>
            <a:ext cx="335219" cy="335219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1645920"/>
            <a:ext cx="335219" cy="335219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1645920"/>
            <a:ext cx="335219" cy="335219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1645920"/>
            <a:ext cx="335219" cy="335219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944" y="1645920"/>
            <a:ext cx="335219" cy="335219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1645920"/>
            <a:ext cx="335219" cy="335219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75688"/>
            <a:ext cx="335219" cy="335219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075688"/>
            <a:ext cx="335219" cy="335219"/>
          </a:xfrm>
          <a:prstGeom prst="rect">
            <a:avLst/>
          </a:prstGeom>
        </p:spPr>
      </p:pic>
      <p:pic>
        <p:nvPicPr>
          <p:cNvPr id="16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336" y="2075688"/>
            <a:ext cx="335219" cy="335219"/>
          </a:xfrm>
          <a:prstGeom prst="rect">
            <a:avLst/>
          </a:prstGeom>
        </p:spPr>
      </p:pic>
      <p:pic>
        <p:nvPicPr>
          <p:cNvPr id="17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104" y="2075688"/>
            <a:ext cx="335219" cy="335219"/>
          </a:xfrm>
          <a:prstGeom prst="rect">
            <a:avLst/>
          </a:prstGeom>
        </p:spPr>
      </p:pic>
      <p:pic>
        <p:nvPicPr>
          <p:cNvPr id="18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872" y="2075688"/>
            <a:ext cx="335219" cy="335219"/>
          </a:xfrm>
          <a:prstGeom prst="rect">
            <a:avLst/>
          </a:prstGeom>
        </p:spPr>
      </p:pic>
      <p:pic>
        <p:nvPicPr>
          <p:cNvPr id="19" name="Image 1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2075688"/>
            <a:ext cx="335219" cy="335219"/>
          </a:xfrm>
          <a:prstGeom prst="rect">
            <a:avLst/>
          </a:prstGeom>
        </p:spPr>
      </p:pic>
      <p:pic>
        <p:nvPicPr>
          <p:cNvPr id="20" name="Image 1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2075688"/>
            <a:ext cx="335219" cy="335219"/>
          </a:xfrm>
          <a:prstGeom prst="rect">
            <a:avLst/>
          </a:prstGeom>
        </p:spPr>
      </p:pic>
      <p:pic>
        <p:nvPicPr>
          <p:cNvPr id="21" name="Image 1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2075688"/>
            <a:ext cx="335219" cy="335219"/>
          </a:xfrm>
          <a:prstGeom prst="rect">
            <a:avLst/>
          </a:prstGeom>
        </p:spPr>
      </p:pic>
      <p:pic>
        <p:nvPicPr>
          <p:cNvPr id="22" name="Image 1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944" y="2075688"/>
            <a:ext cx="335219" cy="335219"/>
          </a:xfrm>
          <a:prstGeom prst="rect">
            <a:avLst/>
          </a:prstGeom>
        </p:spPr>
      </p:pic>
      <p:pic>
        <p:nvPicPr>
          <p:cNvPr id="23" name="Image 1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2075688"/>
            <a:ext cx="335219" cy="335219"/>
          </a:xfrm>
          <a:prstGeom prst="rect">
            <a:avLst/>
          </a:prstGeom>
        </p:spPr>
      </p:pic>
      <p:pic>
        <p:nvPicPr>
          <p:cNvPr id="24" name="Image 2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05456"/>
            <a:ext cx="335219" cy="335219"/>
          </a:xfrm>
          <a:prstGeom prst="rect">
            <a:avLst/>
          </a:prstGeom>
        </p:spPr>
      </p:pic>
      <p:pic>
        <p:nvPicPr>
          <p:cNvPr id="25" name="Image 2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505456"/>
            <a:ext cx="335219" cy="335219"/>
          </a:xfrm>
          <a:prstGeom prst="rect">
            <a:avLst/>
          </a:prstGeom>
        </p:spPr>
      </p:pic>
      <p:pic>
        <p:nvPicPr>
          <p:cNvPr id="26" name="Image 2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336" y="2505456"/>
            <a:ext cx="335219" cy="335219"/>
          </a:xfrm>
          <a:prstGeom prst="rect">
            <a:avLst/>
          </a:prstGeom>
        </p:spPr>
      </p:pic>
      <p:pic>
        <p:nvPicPr>
          <p:cNvPr id="27" name="Image 2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104" y="2505456"/>
            <a:ext cx="335219" cy="335219"/>
          </a:xfrm>
          <a:prstGeom prst="rect">
            <a:avLst/>
          </a:prstGeom>
        </p:spPr>
      </p:pic>
      <p:pic>
        <p:nvPicPr>
          <p:cNvPr id="28" name="Image 2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872" y="2505456"/>
            <a:ext cx="335219" cy="335219"/>
          </a:xfrm>
          <a:prstGeom prst="rect">
            <a:avLst/>
          </a:prstGeom>
        </p:spPr>
      </p:pic>
      <p:pic>
        <p:nvPicPr>
          <p:cNvPr id="29" name="Image 2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2505456"/>
            <a:ext cx="335219" cy="335219"/>
          </a:xfrm>
          <a:prstGeom prst="rect">
            <a:avLst/>
          </a:prstGeom>
        </p:spPr>
      </p:pic>
      <p:pic>
        <p:nvPicPr>
          <p:cNvPr id="30" name="Image 2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2505456"/>
            <a:ext cx="335219" cy="335219"/>
          </a:xfrm>
          <a:prstGeom prst="rect">
            <a:avLst/>
          </a:prstGeom>
        </p:spPr>
      </p:pic>
      <p:pic>
        <p:nvPicPr>
          <p:cNvPr id="31" name="Image 2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2505456"/>
            <a:ext cx="335219" cy="335219"/>
          </a:xfrm>
          <a:prstGeom prst="rect">
            <a:avLst/>
          </a:prstGeom>
        </p:spPr>
      </p:pic>
      <p:pic>
        <p:nvPicPr>
          <p:cNvPr id="32" name="Image 2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944" y="2505456"/>
            <a:ext cx="335219" cy="335219"/>
          </a:xfrm>
          <a:prstGeom prst="rect">
            <a:avLst/>
          </a:prstGeom>
        </p:spPr>
      </p:pic>
      <p:pic>
        <p:nvPicPr>
          <p:cNvPr id="33" name="Image 2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2505456"/>
            <a:ext cx="335219" cy="335219"/>
          </a:xfrm>
          <a:prstGeom prst="rect">
            <a:avLst/>
          </a:prstGeom>
        </p:spPr>
      </p:pic>
      <p:pic>
        <p:nvPicPr>
          <p:cNvPr id="34" name="Image 3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35224"/>
            <a:ext cx="335219" cy="335219"/>
          </a:xfrm>
          <a:prstGeom prst="rect">
            <a:avLst/>
          </a:prstGeom>
        </p:spPr>
      </p:pic>
      <p:pic>
        <p:nvPicPr>
          <p:cNvPr id="35" name="Image 3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935224"/>
            <a:ext cx="335219" cy="335219"/>
          </a:xfrm>
          <a:prstGeom prst="rect">
            <a:avLst/>
          </a:prstGeom>
        </p:spPr>
      </p:pic>
      <p:pic>
        <p:nvPicPr>
          <p:cNvPr id="36" name="Image 3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336" y="2935224"/>
            <a:ext cx="335219" cy="335219"/>
          </a:xfrm>
          <a:prstGeom prst="rect">
            <a:avLst/>
          </a:prstGeom>
        </p:spPr>
      </p:pic>
      <p:pic>
        <p:nvPicPr>
          <p:cNvPr id="37" name="Image 3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104" y="2935224"/>
            <a:ext cx="335219" cy="335219"/>
          </a:xfrm>
          <a:prstGeom prst="rect">
            <a:avLst/>
          </a:prstGeom>
        </p:spPr>
      </p:pic>
      <p:pic>
        <p:nvPicPr>
          <p:cNvPr id="38" name="Image 3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872" y="2935224"/>
            <a:ext cx="335219" cy="335219"/>
          </a:xfrm>
          <a:prstGeom prst="rect">
            <a:avLst/>
          </a:prstGeom>
        </p:spPr>
      </p:pic>
      <p:pic>
        <p:nvPicPr>
          <p:cNvPr id="39" name="Image 3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2935224"/>
            <a:ext cx="335219" cy="335219"/>
          </a:xfrm>
          <a:prstGeom prst="rect">
            <a:avLst/>
          </a:prstGeom>
        </p:spPr>
      </p:pic>
      <p:pic>
        <p:nvPicPr>
          <p:cNvPr id="40" name="Image 3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2935224"/>
            <a:ext cx="335219" cy="335219"/>
          </a:xfrm>
          <a:prstGeom prst="rect">
            <a:avLst/>
          </a:prstGeom>
        </p:spPr>
      </p:pic>
      <p:pic>
        <p:nvPicPr>
          <p:cNvPr id="41" name="Image 3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2935224"/>
            <a:ext cx="335219" cy="335219"/>
          </a:xfrm>
          <a:prstGeom prst="rect">
            <a:avLst/>
          </a:prstGeom>
        </p:spPr>
      </p:pic>
      <p:pic>
        <p:nvPicPr>
          <p:cNvPr id="42" name="Image 3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944" y="2935224"/>
            <a:ext cx="335219" cy="335219"/>
          </a:xfrm>
          <a:prstGeom prst="rect">
            <a:avLst/>
          </a:prstGeom>
        </p:spPr>
      </p:pic>
      <p:pic>
        <p:nvPicPr>
          <p:cNvPr id="43" name="Image 3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2935224"/>
            <a:ext cx="335219" cy="335219"/>
          </a:xfrm>
          <a:prstGeom prst="rect">
            <a:avLst/>
          </a:prstGeom>
        </p:spPr>
      </p:pic>
      <p:pic>
        <p:nvPicPr>
          <p:cNvPr id="44" name="Image 4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64992"/>
            <a:ext cx="335219" cy="335219"/>
          </a:xfrm>
          <a:prstGeom prst="rect">
            <a:avLst/>
          </a:prstGeom>
        </p:spPr>
      </p:pic>
      <p:pic>
        <p:nvPicPr>
          <p:cNvPr id="45" name="Image 4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364992"/>
            <a:ext cx="335219" cy="335219"/>
          </a:xfrm>
          <a:prstGeom prst="rect">
            <a:avLst/>
          </a:prstGeom>
        </p:spPr>
      </p:pic>
      <p:pic>
        <p:nvPicPr>
          <p:cNvPr id="46" name="Image 4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336" y="3364992"/>
            <a:ext cx="335219" cy="335219"/>
          </a:xfrm>
          <a:prstGeom prst="rect">
            <a:avLst/>
          </a:prstGeom>
        </p:spPr>
      </p:pic>
      <p:pic>
        <p:nvPicPr>
          <p:cNvPr id="47" name="Image 4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104" y="3364992"/>
            <a:ext cx="335219" cy="335219"/>
          </a:xfrm>
          <a:prstGeom prst="rect">
            <a:avLst/>
          </a:prstGeom>
        </p:spPr>
      </p:pic>
      <p:pic>
        <p:nvPicPr>
          <p:cNvPr id="48" name="Image 4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872" y="3364992"/>
            <a:ext cx="335219" cy="335219"/>
          </a:xfrm>
          <a:prstGeom prst="rect">
            <a:avLst/>
          </a:prstGeom>
        </p:spPr>
      </p:pic>
      <p:pic>
        <p:nvPicPr>
          <p:cNvPr id="49" name="Image 4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3364992"/>
            <a:ext cx="335219" cy="335219"/>
          </a:xfrm>
          <a:prstGeom prst="rect">
            <a:avLst/>
          </a:prstGeom>
        </p:spPr>
      </p:pic>
      <p:pic>
        <p:nvPicPr>
          <p:cNvPr id="50" name="Image 4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3364992"/>
            <a:ext cx="335219" cy="335219"/>
          </a:xfrm>
          <a:prstGeom prst="rect">
            <a:avLst/>
          </a:prstGeom>
        </p:spPr>
      </p:pic>
      <p:pic>
        <p:nvPicPr>
          <p:cNvPr id="51" name="Image 4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364992"/>
            <a:ext cx="335219" cy="335219"/>
          </a:xfrm>
          <a:prstGeom prst="rect">
            <a:avLst/>
          </a:prstGeom>
        </p:spPr>
      </p:pic>
      <p:pic>
        <p:nvPicPr>
          <p:cNvPr id="52" name="Image 4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944" y="3364992"/>
            <a:ext cx="335219" cy="335219"/>
          </a:xfrm>
          <a:prstGeom prst="rect">
            <a:avLst/>
          </a:prstGeom>
        </p:spPr>
      </p:pic>
      <p:pic>
        <p:nvPicPr>
          <p:cNvPr id="53" name="Image 4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3364992"/>
            <a:ext cx="335219" cy="335219"/>
          </a:xfrm>
          <a:prstGeom prst="rect">
            <a:avLst/>
          </a:prstGeom>
        </p:spPr>
      </p:pic>
      <p:pic>
        <p:nvPicPr>
          <p:cNvPr id="54" name="Image 5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94760"/>
            <a:ext cx="335219" cy="335219"/>
          </a:xfrm>
          <a:prstGeom prst="rect">
            <a:avLst/>
          </a:prstGeom>
        </p:spPr>
      </p:pic>
      <p:pic>
        <p:nvPicPr>
          <p:cNvPr id="55" name="Image 5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94760"/>
            <a:ext cx="335219" cy="335219"/>
          </a:xfrm>
          <a:prstGeom prst="rect">
            <a:avLst/>
          </a:prstGeom>
        </p:spPr>
      </p:pic>
      <p:pic>
        <p:nvPicPr>
          <p:cNvPr id="56" name="Image 5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336" y="3794760"/>
            <a:ext cx="335219" cy="335219"/>
          </a:xfrm>
          <a:prstGeom prst="rect">
            <a:avLst/>
          </a:prstGeom>
        </p:spPr>
      </p:pic>
      <p:pic>
        <p:nvPicPr>
          <p:cNvPr id="57" name="Image 5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104" y="3794760"/>
            <a:ext cx="335219" cy="335219"/>
          </a:xfrm>
          <a:prstGeom prst="rect">
            <a:avLst/>
          </a:prstGeom>
        </p:spPr>
      </p:pic>
      <p:pic>
        <p:nvPicPr>
          <p:cNvPr id="58" name="Image 5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872" y="3794760"/>
            <a:ext cx="335219" cy="335219"/>
          </a:xfrm>
          <a:prstGeom prst="rect">
            <a:avLst/>
          </a:prstGeom>
        </p:spPr>
      </p:pic>
      <p:pic>
        <p:nvPicPr>
          <p:cNvPr id="59" name="Image 5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3794760"/>
            <a:ext cx="335219" cy="335219"/>
          </a:xfrm>
          <a:prstGeom prst="rect">
            <a:avLst/>
          </a:prstGeom>
        </p:spPr>
      </p:pic>
      <p:pic>
        <p:nvPicPr>
          <p:cNvPr id="60" name="Image 5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3794760"/>
            <a:ext cx="335219" cy="335219"/>
          </a:xfrm>
          <a:prstGeom prst="rect">
            <a:avLst/>
          </a:prstGeom>
        </p:spPr>
      </p:pic>
      <p:pic>
        <p:nvPicPr>
          <p:cNvPr id="61" name="Image 5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794760"/>
            <a:ext cx="335219" cy="335219"/>
          </a:xfrm>
          <a:prstGeom prst="rect">
            <a:avLst/>
          </a:prstGeom>
        </p:spPr>
      </p:pic>
      <p:pic>
        <p:nvPicPr>
          <p:cNvPr id="62" name="Image 5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944" y="3794760"/>
            <a:ext cx="335219" cy="335219"/>
          </a:xfrm>
          <a:prstGeom prst="rect">
            <a:avLst/>
          </a:prstGeom>
        </p:spPr>
      </p:pic>
      <p:pic>
        <p:nvPicPr>
          <p:cNvPr id="63" name="Image 5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3794760"/>
            <a:ext cx="335219" cy="335219"/>
          </a:xfrm>
          <a:prstGeom prst="rect">
            <a:avLst/>
          </a:prstGeom>
        </p:spPr>
      </p:pic>
      <p:pic>
        <p:nvPicPr>
          <p:cNvPr id="64" name="Image 6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224528"/>
            <a:ext cx="335219" cy="335219"/>
          </a:xfrm>
          <a:prstGeom prst="rect">
            <a:avLst/>
          </a:prstGeom>
        </p:spPr>
      </p:pic>
      <p:pic>
        <p:nvPicPr>
          <p:cNvPr id="65" name="Image 6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224528"/>
            <a:ext cx="335219" cy="335219"/>
          </a:xfrm>
          <a:prstGeom prst="rect">
            <a:avLst/>
          </a:prstGeom>
        </p:spPr>
      </p:pic>
      <p:pic>
        <p:nvPicPr>
          <p:cNvPr id="66" name="Image 6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336" y="4224528"/>
            <a:ext cx="335219" cy="335219"/>
          </a:xfrm>
          <a:prstGeom prst="rect">
            <a:avLst/>
          </a:prstGeom>
        </p:spPr>
      </p:pic>
      <p:pic>
        <p:nvPicPr>
          <p:cNvPr id="67" name="Image 6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5104" y="4224528"/>
            <a:ext cx="335219" cy="335219"/>
          </a:xfrm>
          <a:prstGeom prst="rect">
            <a:avLst/>
          </a:prstGeom>
        </p:spPr>
      </p:pic>
      <p:pic>
        <p:nvPicPr>
          <p:cNvPr id="68" name="Image 6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4872" y="4224528"/>
            <a:ext cx="335219" cy="335219"/>
          </a:xfrm>
          <a:prstGeom prst="rect">
            <a:avLst/>
          </a:prstGeom>
        </p:spPr>
      </p:pic>
      <p:pic>
        <p:nvPicPr>
          <p:cNvPr id="69" name="Image 6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4224528"/>
            <a:ext cx="335219" cy="335219"/>
          </a:xfrm>
          <a:prstGeom prst="rect">
            <a:avLst/>
          </a:prstGeom>
        </p:spPr>
      </p:pic>
      <p:pic>
        <p:nvPicPr>
          <p:cNvPr id="70" name="Image 6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4224528"/>
            <a:ext cx="335219" cy="335219"/>
          </a:xfrm>
          <a:prstGeom prst="rect">
            <a:avLst/>
          </a:prstGeom>
        </p:spPr>
      </p:pic>
      <p:pic>
        <p:nvPicPr>
          <p:cNvPr id="71" name="Image 6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176" y="4224528"/>
            <a:ext cx="335219" cy="335219"/>
          </a:xfrm>
          <a:prstGeom prst="rect">
            <a:avLst/>
          </a:prstGeom>
        </p:spPr>
      </p:pic>
      <p:pic>
        <p:nvPicPr>
          <p:cNvPr id="72" name="Image 6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3944" y="4224528"/>
            <a:ext cx="335219" cy="335219"/>
          </a:xfrm>
          <a:prstGeom prst="rect">
            <a:avLst/>
          </a:prstGeom>
        </p:spPr>
      </p:pic>
      <p:pic>
        <p:nvPicPr>
          <p:cNvPr id="73" name="Image 6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4224528"/>
            <a:ext cx="335219" cy="335219"/>
          </a:xfrm>
          <a:prstGeom prst="rect">
            <a:avLst/>
          </a:prstGeom>
        </p:spPr>
      </p:pic>
      <p:pic>
        <p:nvPicPr>
          <p:cNvPr id="74" name="Image 7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654296"/>
            <a:ext cx="335219" cy="335219"/>
          </a:xfrm>
          <a:prstGeom prst="rect">
            <a:avLst/>
          </a:prstGeom>
        </p:spPr>
      </p:pic>
      <p:pic>
        <p:nvPicPr>
          <p:cNvPr id="75" name="Image 7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4654296"/>
            <a:ext cx="335219" cy="335219"/>
          </a:xfrm>
          <a:prstGeom prst="rect">
            <a:avLst/>
          </a:prstGeom>
        </p:spPr>
      </p:pic>
      <p:pic>
        <p:nvPicPr>
          <p:cNvPr id="76" name="Image 7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336" y="4654296"/>
            <a:ext cx="335219" cy="335219"/>
          </a:xfrm>
          <a:prstGeom prst="rect">
            <a:avLst/>
          </a:prstGeom>
        </p:spPr>
      </p:pic>
      <p:pic>
        <p:nvPicPr>
          <p:cNvPr id="77" name="Image 7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5104" y="4654296"/>
            <a:ext cx="335219" cy="335219"/>
          </a:xfrm>
          <a:prstGeom prst="rect">
            <a:avLst/>
          </a:prstGeom>
        </p:spPr>
      </p:pic>
      <p:pic>
        <p:nvPicPr>
          <p:cNvPr id="78" name="Image 7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4872" y="4654296"/>
            <a:ext cx="335219" cy="335219"/>
          </a:xfrm>
          <a:prstGeom prst="rect">
            <a:avLst/>
          </a:prstGeom>
        </p:spPr>
      </p:pic>
      <p:pic>
        <p:nvPicPr>
          <p:cNvPr id="79" name="Image 7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4654296"/>
            <a:ext cx="335219" cy="335219"/>
          </a:xfrm>
          <a:prstGeom prst="rect">
            <a:avLst/>
          </a:prstGeom>
        </p:spPr>
      </p:pic>
      <p:pic>
        <p:nvPicPr>
          <p:cNvPr id="80" name="Image 7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408" y="4654296"/>
            <a:ext cx="335219" cy="335219"/>
          </a:xfrm>
          <a:prstGeom prst="rect">
            <a:avLst/>
          </a:prstGeom>
        </p:spPr>
      </p:pic>
      <p:pic>
        <p:nvPicPr>
          <p:cNvPr id="81" name="Image 7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4176" y="4654296"/>
            <a:ext cx="335219" cy="335219"/>
          </a:xfrm>
          <a:prstGeom prst="rect">
            <a:avLst/>
          </a:prstGeom>
        </p:spPr>
      </p:pic>
      <p:pic>
        <p:nvPicPr>
          <p:cNvPr id="82" name="Image 7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3944" y="4654296"/>
            <a:ext cx="335219" cy="335219"/>
          </a:xfrm>
          <a:prstGeom prst="rect">
            <a:avLst/>
          </a:prstGeom>
        </p:spPr>
      </p:pic>
      <p:pic>
        <p:nvPicPr>
          <p:cNvPr id="83" name="Image 7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4654296"/>
            <a:ext cx="335219" cy="335219"/>
          </a:xfrm>
          <a:prstGeom prst="rect">
            <a:avLst/>
          </a:prstGeom>
        </p:spPr>
      </p:pic>
      <p:pic>
        <p:nvPicPr>
          <p:cNvPr id="84" name="Image 8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084064"/>
            <a:ext cx="335219" cy="335219"/>
          </a:xfrm>
          <a:prstGeom prst="rect">
            <a:avLst/>
          </a:prstGeom>
        </p:spPr>
      </p:pic>
      <p:pic>
        <p:nvPicPr>
          <p:cNvPr id="85" name="Image 8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5084064"/>
            <a:ext cx="335219" cy="335219"/>
          </a:xfrm>
          <a:prstGeom prst="rect">
            <a:avLst/>
          </a:prstGeom>
        </p:spPr>
      </p:pic>
      <p:pic>
        <p:nvPicPr>
          <p:cNvPr id="86" name="Image 8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5336" y="5084064"/>
            <a:ext cx="335219" cy="335219"/>
          </a:xfrm>
          <a:prstGeom prst="rect">
            <a:avLst/>
          </a:prstGeom>
        </p:spPr>
      </p:pic>
      <p:pic>
        <p:nvPicPr>
          <p:cNvPr id="87" name="Image 8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5104" y="5084064"/>
            <a:ext cx="335219" cy="335219"/>
          </a:xfrm>
          <a:prstGeom prst="rect">
            <a:avLst/>
          </a:prstGeom>
        </p:spPr>
      </p:pic>
      <p:pic>
        <p:nvPicPr>
          <p:cNvPr id="88" name="Image 8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4872" y="5084064"/>
            <a:ext cx="335219" cy="335219"/>
          </a:xfrm>
          <a:prstGeom prst="rect">
            <a:avLst/>
          </a:prstGeom>
        </p:spPr>
      </p:pic>
      <p:pic>
        <p:nvPicPr>
          <p:cNvPr id="89" name="Image 8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084064"/>
            <a:ext cx="335219" cy="335219"/>
          </a:xfrm>
          <a:prstGeom prst="rect">
            <a:avLst/>
          </a:prstGeom>
        </p:spPr>
      </p:pic>
      <p:pic>
        <p:nvPicPr>
          <p:cNvPr id="90" name="Image 8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4408" y="5084064"/>
            <a:ext cx="335219" cy="335219"/>
          </a:xfrm>
          <a:prstGeom prst="rect">
            <a:avLst/>
          </a:prstGeom>
        </p:spPr>
      </p:pic>
      <p:pic>
        <p:nvPicPr>
          <p:cNvPr id="91" name="Image 8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4176" y="5084064"/>
            <a:ext cx="335219" cy="335219"/>
          </a:xfrm>
          <a:prstGeom prst="rect">
            <a:avLst/>
          </a:prstGeom>
        </p:spPr>
      </p:pic>
      <p:pic>
        <p:nvPicPr>
          <p:cNvPr id="92" name="Image 8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3944" y="5084064"/>
            <a:ext cx="335219" cy="335219"/>
          </a:xfrm>
          <a:prstGeom prst="rect">
            <a:avLst/>
          </a:prstGeom>
        </p:spPr>
      </p:pic>
      <p:pic>
        <p:nvPicPr>
          <p:cNvPr id="93" name="Image 8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3712" y="5084064"/>
            <a:ext cx="335219" cy="335219"/>
          </a:xfrm>
          <a:prstGeom prst="rect">
            <a:avLst/>
          </a:prstGeom>
        </p:spPr>
      </p:pic>
      <p:pic>
        <p:nvPicPr>
          <p:cNvPr id="94" name="Image 9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513832"/>
            <a:ext cx="335219" cy="335219"/>
          </a:xfrm>
          <a:prstGeom prst="rect">
            <a:avLst/>
          </a:prstGeom>
        </p:spPr>
      </p:pic>
      <p:pic>
        <p:nvPicPr>
          <p:cNvPr id="95" name="Image 9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8" y="5513832"/>
            <a:ext cx="335219" cy="335219"/>
          </a:xfrm>
          <a:prstGeom prst="rect">
            <a:avLst/>
          </a:prstGeom>
        </p:spPr>
      </p:pic>
      <p:pic>
        <p:nvPicPr>
          <p:cNvPr id="96" name="Image 9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336" y="5513832"/>
            <a:ext cx="335219" cy="335219"/>
          </a:xfrm>
          <a:prstGeom prst="rect">
            <a:avLst/>
          </a:prstGeom>
        </p:spPr>
      </p:pic>
      <p:pic>
        <p:nvPicPr>
          <p:cNvPr id="97" name="Image 9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5104" y="5513832"/>
            <a:ext cx="335219" cy="335219"/>
          </a:xfrm>
          <a:prstGeom prst="rect">
            <a:avLst/>
          </a:prstGeom>
        </p:spPr>
      </p:pic>
      <p:pic>
        <p:nvPicPr>
          <p:cNvPr id="98" name="Image 9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4872" y="5513832"/>
            <a:ext cx="335219" cy="335219"/>
          </a:xfrm>
          <a:prstGeom prst="rect">
            <a:avLst/>
          </a:prstGeom>
        </p:spPr>
      </p:pic>
      <p:pic>
        <p:nvPicPr>
          <p:cNvPr id="99" name="Image 9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0" y="5513832"/>
            <a:ext cx="335219" cy="335219"/>
          </a:xfrm>
          <a:prstGeom prst="rect">
            <a:avLst/>
          </a:prstGeom>
        </p:spPr>
      </p:pic>
      <p:pic>
        <p:nvPicPr>
          <p:cNvPr id="100" name="Image 9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4408" y="5513832"/>
            <a:ext cx="335219" cy="335219"/>
          </a:xfrm>
          <a:prstGeom prst="rect">
            <a:avLst/>
          </a:prstGeom>
        </p:spPr>
      </p:pic>
      <p:pic>
        <p:nvPicPr>
          <p:cNvPr id="101" name="Image 9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4176" y="5513832"/>
            <a:ext cx="335219" cy="335219"/>
          </a:xfrm>
          <a:prstGeom prst="rect">
            <a:avLst/>
          </a:prstGeom>
        </p:spPr>
      </p:pic>
      <p:pic>
        <p:nvPicPr>
          <p:cNvPr id="102" name="Image 9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3944" y="5513832"/>
            <a:ext cx="335219" cy="335219"/>
          </a:xfrm>
          <a:prstGeom prst="rect">
            <a:avLst/>
          </a:prstGeom>
        </p:spPr>
      </p:pic>
      <p:pic>
        <p:nvPicPr>
          <p:cNvPr id="103" name="Image 9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3712" y="5513832"/>
            <a:ext cx="335219" cy="335219"/>
          </a:xfrm>
          <a:prstGeom prst="rect">
            <a:avLst/>
          </a:prstGeom>
        </p:spPr>
      </p:pic>
      <p:sp>
        <p:nvSpPr>
          <p:cNvPr id="104" name="Text 2"/>
          <p:cNvSpPr txBox="1"/>
          <p:nvPr/>
        </p:nvSpPr>
        <p:spPr>
          <a:xfrm>
            <a:off x="5669280" y="17830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4B8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63</a:t>
            </a:r>
            <a:endParaRPr lang="en-US" sz="3800" dirty="0"/>
          </a:p>
        </p:txBody>
      </p:sp>
      <p:sp>
        <p:nvSpPr>
          <p:cNvPr id="105" name="Text 3"/>
          <p:cNvSpPr txBox="1"/>
          <p:nvPr/>
        </p:nvSpPr>
        <p:spPr>
          <a:xfrm>
            <a:off x="6903720" y="17830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Centro</a:t>
            </a:r>
            <a:endParaRPr lang="en-US" sz="1800" dirty="0"/>
          </a:p>
        </p:txBody>
      </p:sp>
      <p:sp>
        <p:nvSpPr>
          <p:cNvPr id="106" name="Text 4"/>
          <p:cNvSpPr txBox="1"/>
          <p:nvPr/>
        </p:nvSpPr>
        <p:spPr>
          <a:xfrm>
            <a:off x="5669280" y="26517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7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3800" dirty="0"/>
          </a:p>
        </p:txBody>
      </p:sp>
      <p:sp>
        <p:nvSpPr>
          <p:cNvPr id="107" name="Text 5"/>
          <p:cNvSpPr txBox="1"/>
          <p:nvPr/>
        </p:nvSpPr>
        <p:spPr>
          <a:xfrm>
            <a:off x="6903720" y="2651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Carretera de Cádiz</a:t>
            </a:r>
            <a:endParaRPr lang="en-US" sz="1800" dirty="0"/>
          </a:p>
        </p:txBody>
      </p:sp>
      <p:sp>
        <p:nvSpPr>
          <p:cNvPr id="108" name="Text 6"/>
          <p:cNvSpPr txBox="1"/>
          <p:nvPr/>
        </p:nvSpPr>
        <p:spPr>
          <a:xfrm>
            <a:off x="5669280" y="35204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B554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3800" dirty="0"/>
          </a:p>
        </p:txBody>
      </p:sp>
      <p:sp>
        <p:nvSpPr>
          <p:cNvPr id="109" name="Text 7"/>
          <p:cNvSpPr txBox="1"/>
          <p:nvPr/>
        </p:nvSpPr>
        <p:spPr>
          <a:xfrm>
            <a:off x="6903720" y="35204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Este</a:t>
            </a:r>
            <a:endParaRPr lang="en-US" sz="1800" dirty="0"/>
          </a:p>
        </p:txBody>
      </p:sp>
      <p:sp>
        <p:nvSpPr>
          <p:cNvPr id="110" name="Text 8"/>
          <p:cNvSpPr txBox="1"/>
          <p:nvPr/>
        </p:nvSpPr>
        <p:spPr>
          <a:xfrm>
            <a:off x="5669280" y="43891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9FB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3800" dirty="0"/>
          </a:p>
        </p:txBody>
      </p:sp>
      <p:sp>
        <p:nvSpPr>
          <p:cNvPr id="111" name="Text 9"/>
          <p:cNvSpPr txBox="1"/>
          <p:nvPr/>
        </p:nvSpPr>
        <p:spPr>
          <a:xfrm>
            <a:off x="6903720" y="43891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otros 8 distritos juntos</a:t>
            </a:r>
            <a:endParaRPr lang="en-US" sz="1800" dirty="0"/>
          </a:p>
        </p:txBody>
      </p:sp>
      <p:sp>
        <p:nvSpPr>
          <p:cNvPr id="112" name="Shape 10"/>
          <p:cNvSpPr/>
          <p:nvPr/>
        </p:nvSpPr>
        <p:spPr>
          <a:xfrm>
            <a:off x="5669280" y="5349240"/>
            <a:ext cx="5971032" cy="777240"/>
          </a:xfrm>
          <a:prstGeom prst="roundRect">
            <a:avLst>
              <a:gd name="adj" fmla="val 14118"/>
            </a:avLst>
          </a:prstGeom>
          <a:solidFill>
            <a:srgbClr val="1D4560"/>
          </a:solidFill>
          <a:ln w="12700">
            <a:solidFill>
              <a:srgbClr val="1D4560"/>
            </a:solidFill>
            <a:prstDash val="solid"/>
          </a:ln>
        </p:spPr>
      </p:sp>
      <p:sp>
        <p:nvSpPr>
          <p:cNvPr id="113" name="Text 11"/>
          <p:cNvSpPr txBox="1"/>
          <p:nvPr/>
        </p:nvSpPr>
        <p:spPr>
          <a:xfrm>
            <a:off x="5897880" y="534924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B8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880 pisos turísticos por km² </a:t>
            </a:r>
            <a:r>
              <a:rPr lang="en-US" sz="15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Centro, frente a 5 </a:t>
            </a:r>
            <a:r>
              <a:rPr lang="en-US" sz="1500" dirty="0" err="1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</a:t>
            </a:r>
            <a:r>
              <a:rPr lang="en-US" sz="15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00" dirty="0" err="1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Churriana</a:t>
            </a:r>
            <a:endParaRPr lang="en-US" sz="1500" dirty="0"/>
          </a:p>
        </p:txBody>
      </p:sp>
      <p:sp>
        <p:nvSpPr>
          <p:cNvPr id="114" name="Text 12"/>
          <p:cNvSpPr txBox="1"/>
          <p:nvPr/>
        </p:nvSpPr>
        <p:spPr>
          <a:xfrm>
            <a:off x="548640" y="5989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casa = 1 %  ·  Fuente: Junta de Andalucía (OpenRTA)</a:t>
            </a:r>
            <a:endParaRPr lang="en-US" sz="1000" dirty="0"/>
          </a:p>
        </p:txBody>
      </p:sp>
      <p:sp>
        <p:nvSpPr>
          <p:cNvPr id="1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6C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70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DESCUBRÍ  ·  3</a:t>
            </a:r>
            <a:endParaRPr lang="en-US" sz="1100" dirty="0"/>
          </a:p>
        </p:txBody>
      </p:sp>
      <p:sp>
        <p:nvSpPr>
          <p:cNvPr id="3" name="titulo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Churriana, 4 de cada 10 vecinos ven mal el turismo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863840" cy="868680"/>
          </a:xfrm>
          <a:prstGeom prst="roundRect">
            <a:avLst>
              <a:gd name="adj" fmla="val 12632"/>
            </a:avLst>
          </a:prstGeom>
          <a:solidFill>
            <a:srgbClr val="1D4560"/>
          </a:solidFill>
          <a:ln w="12700">
            <a:solidFill>
              <a:srgbClr val="1D45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Churriana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7373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4B8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39,5 %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892808"/>
            <a:ext cx="365760" cy="566928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892808"/>
            <a:ext cx="365760" cy="566928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892808"/>
            <a:ext cx="365760" cy="56692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892808"/>
            <a:ext cx="365760" cy="566928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892808"/>
            <a:ext cx="365760" cy="566928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892808"/>
            <a:ext cx="365760" cy="566928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892808"/>
            <a:ext cx="365760" cy="566928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892808"/>
            <a:ext cx="365760" cy="566928"/>
          </a:xfrm>
          <a:prstGeom prst="rect">
            <a:avLst/>
          </a:prstGeom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892808"/>
            <a:ext cx="365760" cy="566928"/>
          </a:xfrm>
          <a:prstGeom prst="rect">
            <a:avLst/>
          </a:prstGeom>
        </p:spPr>
      </p:pic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892808"/>
            <a:ext cx="365760" cy="566928"/>
          </a:xfrm>
          <a:prstGeom prst="rect">
            <a:avLst/>
          </a:prstGeom>
        </p:spPr>
      </p:pic>
      <p:sp>
        <p:nvSpPr>
          <p:cNvPr id="17" name="Shape 5"/>
          <p:cNvSpPr/>
          <p:nvPr/>
        </p:nvSpPr>
        <p:spPr>
          <a:xfrm>
            <a:off x="548640" y="2761488"/>
            <a:ext cx="7863840" cy="868680"/>
          </a:xfrm>
          <a:prstGeom prst="roundRect">
            <a:avLst>
              <a:gd name="adj" fmla="val 12632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18" name="Text 6"/>
          <p:cNvSpPr txBox="1"/>
          <p:nvPr/>
        </p:nvSpPr>
        <p:spPr>
          <a:xfrm>
            <a:off x="822960" y="276148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Centro</a:t>
            </a:r>
            <a:endParaRPr lang="en-US" sz="1700" dirty="0"/>
          </a:p>
        </p:txBody>
      </p:sp>
      <p:sp>
        <p:nvSpPr>
          <p:cNvPr id="19" name="Text 7"/>
          <p:cNvSpPr txBox="1"/>
          <p:nvPr/>
        </p:nvSpPr>
        <p:spPr>
          <a:xfrm>
            <a:off x="2743200" y="276148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87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18,3 %</a:t>
            </a:r>
            <a:endParaRPr lang="en-US" sz="1700" dirty="0"/>
          </a:p>
        </p:txBody>
      </p:sp>
      <p:pic>
        <p:nvPicPr>
          <p:cNvPr id="20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2916936"/>
            <a:ext cx="365760" cy="566928"/>
          </a:xfrm>
          <a:prstGeom prst="rect">
            <a:avLst/>
          </a:prstGeom>
        </p:spPr>
      </p:pic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2916936"/>
            <a:ext cx="365760" cy="566928"/>
          </a:xfrm>
          <a:prstGeom prst="rect">
            <a:avLst/>
          </a:prstGeom>
        </p:spPr>
      </p:pic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916936"/>
            <a:ext cx="365760" cy="566928"/>
          </a:xfrm>
          <a:prstGeom prst="rect">
            <a:avLst/>
          </a:prstGeom>
        </p:spPr>
      </p:pic>
      <p:pic>
        <p:nvPicPr>
          <p:cNvPr id="23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2916936"/>
            <a:ext cx="365760" cy="566928"/>
          </a:xfrm>
          <a:prstGeom prst="rect">
            <a:avLst/>
          </a:prstGeom>
        </p:spPr>
      </p:pic>
      <p:pic>
        <p:nvPicPr>
          <p:cNvPr id="24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916936"/>
            <a:ext cx="365760" cy="566928"/>
          </a:xfrm>
          <a:prstGeom prst="rect">
            <a:avLst/>
          </a:prstGeom>
        </p:spPr>
      </p:pic>
      <p:pic>
        <p:nvPicPr>
          <p:cNvPr id="25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916936"/>
            <a:ext cx="365760" cy="566928"/>
          </a:xfrm>
          <a:prstGeom prst="rect">
            <a:avLst/>
          </a:prstGeom>
        </p:spPr>
      </p:pic>
      <p:pic>
        <p:nvPicPr>
          <p:cNvPr id="26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916936"/>
            <a:ext cx="365760" cy="566928"/>
          </a:xfrm>
          <a:prstGeom prst="rect">
            <a:avLst/>
          </a:prstGeom>
        </p:spPr>
      </p:pic>
      <p:pic>
        <p:nvPicPr>
          <p:cNvPr id="27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2916936"/>
            <a:ext cx="365760" cy="566928"/>
          </a:xfrm>
          <a:prstGeom prst="rect">
            <a:avLst/>
          </a:prstGeom>
        </p:spPr>
      </p:pic>
      <p:pic>
        <p:nvPicPr>
          <p:cNvPr id="28" name="Image 1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916936"/>
            <a:ext cx="365760" cy="566928"/>
          </a:xfrm>
          <a:prstGeom prst="rect">
            <a:avLst/>
          </a:prstGeom>
        </p:spPr>
      </p:pic>
      <p:pic>
        <p:nvPicPr>
          <p:cNvPr id="29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916936"/>
            <a:ext cx="365760" cy="566928"/>
          </a:xfrm>
          <a:prstGeom prst="rect">
            <a:avLst/>
          </a:prstGeom>
        </p:spPr>
      </p:pic>
      <p:sp>
        <p:nvSpPr>
          <p:cNvPr id="30" name="Shape 8"/>
          <p:cNvSpPr/>
          <p:nvPr/>
        </p:nvSpPr>
        <p:spPr>
          <a:xfrm>
            <a:off x="548640" y="3785616"/>
            <a:ext cx="7863840" cy="868680"/>
          </a:xfrm>
          <a:prstGeom prst="roundRect">
            <a:avLst>
              <a:gd name="adj" fmla="val 12632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31" name="Text 9"/>
          <p:cNvSpPr txBox="1"/>
          <p:nvPr/>
        </p:nvSpPr>
        <p:spPr>
          <a:xfrm>
            <a:off x="822960" y="3785616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Media de Málaga</a:t>
            </a:r>
            <a:endParaRPr lang="en-US" sz="1700" dirty="0"/>
          </a:p>
        </p:txBody>
      </p:sp>
      <p:sp>
        <p:nvSpPr>
          <p:cNvPr id="32" name="Text 10"/>
          <p:cNvSpPr txBox="1"/>
          <p:nvPr/>
        </p:nvSpPr>
        <p:spPr>
          <a:xfrm>
            <a:off x="2743200" y="3785616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87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12,4 %</a:t>
            </a:r>
            <a:endParaRPr lang="en-US" sz="1700" dirty="0"/>
          </a:p>
        </p:txBody>
      </p:sp>
      <p:pic>
        <p:nvPicPr>
          <p:cNvPr id="33" name="Image 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3941064"/>
            <a:ext cx="365760" cy="566928"/>
          </a:xfrm>
          <a:prstGeom prst="rect">
            <a:avLst/>
          </a:prstGeom>
        </p:spPr>
      </p:pic>
      <p:pic>
        <p:nvPicPr>
          <p:cNvPr id="34" name="Image 2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3941064"/>
            <a:ext cx="365760" cy="566928"/>
          </a:xfrm>
          <a:prstGeom prst="rect">
            <a:avLst/>
          </a:prstGeom>
        </p:spPr>
      </p:pic>
      <p:pic>
        <p:nvPicPr>
          <p:cNvPr id="35" name="Image 2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941064"/>
            <a:ext cx="365760" cy="566928"/>
          </a:xfrm>
          <a:prstGeom prst="rect">
            <a:avLst/>
          </a:prstGeom>
        </p:spPr>
      </p:pic>
      <p:pic>
        <p:nvPicPr>
          <p:cNvPr id="36" name="Image 2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3941064"/>
            <a:ext cx="365760" cy="566928"/>
          </a:xfrm>
          <a:prstGeom prst="rect">
            <a:avLst/>
          </a:prstGeom>
        </p:spPr>
      </p:pic>
      <p:pic>
        <p:nvPicPr>
          <p:cNvPr id="37" name="Image 2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941064"/>
            <a:ext cx="365760" cy="566928"/>
          </a:xfrm>
          <a:prstGeom prst="rect">
            <a:avLst/>
          </a:prstGeom>
        </p:spPr>
      </p:pic>
      <p:pic>
        <p:nvPicPr>
          <p:cNvPr id="38" name="Image 2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941064"/>
            <a:ext cx="365760" cy="566928"/>
          </a:xfrm>
          <a:prstGeom prst="rect">
            <a:avLst/>
          </a:prstGeom>
        </p:spPr>
      </p:pic>
      <p:pic>
        <p:nvPicPr>
          <p:cNvPr id="39" name="Image 2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941064"/>
            <a:ext cx="365760" cy="566928"/>
          </a:xfrm>
          <a:prstGeom prst="rect">
            <a:avLst/>
          </a:prstGeom>
        </p:spPr>
      </p:pic>
      <p:pic>
        <p:nvPicPr>
          <p:cNvPr id="40" name="Image 2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3941064"/>
            <a:ext cx="365760" cy="566928"/>
          </a:xfrm>
          <a:prstGeom prst="rect">
            <a:avLst/>
          </a:prstGeom>
        </p:spPr>
      </p:pic>
      <p:pic>
        <p:nvPicPr>
          <p:cNvPr id="41" name="Image 2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3941064"/>
            <a:ext cx="365760" cy="566928"/>
          </a:xfrm>
          <a:prstGeom prst="rect">
            <a:avLst/>
          </a:prstGeom>
        </p:spPr>
      </p:pic>
      <p:pic>
        <p:nvPicPr>
          <p:cNvPr id="42" name="Image 2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3941064"/>
            <a:ext cx="365760" cy="566928"/>
          </a:xfrm>
          <a:prstGeom prst="rect">
            <a:avLst/>
          </a:prstGeom>
        </p:spPr>
      </p:pic>
      <p:sp>
        <p:nvSpPr>
          <p:cNvPr id="43" name="Shape 11"/>
          <p:cNvSpPr/>
          <p:nvPr/>
        </p:nvSpPr>
        <p:spPr>
          <a:xfrm>
            <a:off x="548640" y="4809744"/>
            <a:ext cx="7863840" cy="868680"/>
          </a:xfrm>
          <a:prstGeom prst="roundRect">
            <a:avLst>
              <a:gd name="adj" fmla="val 12632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44" name="Text 12"/>
          <p:cNvSpPr txBox="1"/>
          <p:nvPr/>
        </p:nvSpPr>
        <p:spPr>
          <a:xfrm>
            <a:off x="822960" y="4809744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Campanillas</a:t>
            </a:r>
            <a:endParaRPr lang="en-US" sz="1700" dirty="0"/>
          </a:p>
        </p:txBody>
      </p:sp>
      <p:sp>
        <p:nvSpPr>
          <p:cNvPr id="45" name="Text 13"/>
          <p:cNvSpPr txBox="1"/>
          <p:nvPr/>
        </p:nvSpPr>
        <p:spPr>
          <a:xfrm>
            <a:off x="2743200" y="4809744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3FB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0 %</a:t>
            </a:r>
            <a:endParaRPr lang="en-US" sz="1700" dirty="0"/>
          </a:p>
        </p:txBody>
      </p:sp>
      <p:pic>
        <p:nvPicPr>
          <p:cNvPr id="46" name="Image 3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4965192"/>
            <a:ext cx="365760" cy="566928"/>
          </a:xfrm>
          <a:prstGeom prst="rect">
            <a:avLst/>
          </a:prstGeom>
        </p:spPr>
      </p:pic>
      <p:pic>
        <p:nvPicPr>
          <p:cNvPr id="47" name="Image 3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4965192"/>
            <a:ext cx="365760" cy="566928"/>
          </a:xfrm>
          <a:prstGeom prst="rect">
            <a:avLst/>
          </a:prstGeom>
        </p:spPr>
      </p:pic>
      <p:pic>
        <p:nvPicPr>
          <p:cNvPr id="48" name="Image 3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4965192"/>
            <a:ext cx="365760" cy="566928"/>
          </a:xfrm>
          <a:prstGeom prst="rect">
            <a:avLst/>
          </a:prstGeom>
        </p:spPr>
      </p:pic>
      <p:pic>
        <p:nvPicPr>
          <p:cNvPr id="49" name="Image 3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4965192"/>
            <a:ext cx="365760" cy="566928"/>
          </a:xfrm>
          <a:prstGeom prst="rect">
            <a:avLst/>
          </a:prstGeom>
        </p:spPr>
      </p:pic>
      <p:pic>
        <p:nvPicPr>
          <p:cNvPr id="50" name="Image 3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4965192"/>
            <a:ext cx="365760" cy="566928"/>
          </a:xfrm>
          <a:prstGeom prst="rect">
            <a:avLst/>
          </a:prstGeom>
        </p:spPr>
      </p:pic>
      <p:pic>
        <p:nvPicPr>
          <p:cNvPr id="51" name="Image 3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965192"/>
            <a:ext cx="365760" cy="566928"/>
          </a:xfrm>
          <a:prstGeom prst="rect">
            <a:avLst/>
          </a:prstGeom>
        </p:spPr>
      </p:pic>
      <p:pic>
        <p:nvPicPr>
          <p:cNvPr id="52" name="Image 3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965192"/>
            <a:ext cx="365760" cy="566928"/>
          </a:xfrm>
          <a:prstGeom prst="rect">
            <a:avLst/>
          </a:prstGeom>
        </p:spPr>
      </p:pic>
      <p:pic>
        <p:nvPicPr>
          <p:cNvPr id="53" name="Image 3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4965192"/>
            <a:ext cx="365760" cy="566928"/>
          </a:xfrm>
          <a:prstGeom prst="rect">
            <a:avLst/>
          </a:prstGeom>
        </p:spPr>
      </p:pic>
      <p:pic>
        <p:nvPicPr>
          <p:cNvPr id="54" name="Image 3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4965192"/>
            <a:ext cx="365760" cy="566928"/>
          </a:xfrm>
          <a:prstGeom prst="rect">
            <a:avLst/>
          </a:prstGeom>
        </p:spPr>
      </p:pic>
      <p:pic>
        <p:nvPicPr>
          <p:cNvPr id="55" name="Image 3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965192"/>
            <a:ext cx="365760" cy="566928"/>
          </a:xfrm>
          <a:prstGeom prst="rect">
            <a:avLst/>
          </a:prstGeom>
        </p:spPr>
      </p:pic>
      <p:sp>
        <p:nvSpPr>
          <p:cNvPr id="56" name="Text 14"/>
          <p:cNvSpPr txBox="1"/>
          <p:nvPr/>
        </p:nvSpPr>
        <p:spPr>
          <a:xfrm>
            <a:off x="548640" y="5897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figura = 1 de cada 10 vecinos  ·  Fuente: Observatorio de Turismo Sostenible de Málaga, 2023</a:t>
            </a:r>
            <a:endParaRPr lang="en-US" sz="1000" dirty="0"/>
          </a:p>
        </p:txBody>
      </p:sp>
      <p:sp>
        <p:nvSpPr>
          <p:cNvPr id="57" name="Shape 15"/>
          <p:cNvSpPr/>
          <p:nvPr/>
        </p:nvSpPr>
        <p:spPr>
          <a:xfrm>
            <a:off x="8732520" y="1737360"/>
            <a:ext cx="2907792" cy="3941064"/>
          </a:xfrm>
          <a:prstGeom prst="roundRect">
            <a:avLst>
              <a:gd name="adj" fmla="val 3774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58" name="Text 16"/>
          <p:cNvSpPr txBox="1"/>
          <p:nvPr/>
        </p:nvSpPr>
        <p:spPr>
          <a:xfrm>
            <a:off x="9006840" y="1920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4B8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3×</a:t>
            </a:r>
            <a:endParaRPr lang="en-US" sz="5400" dirty="0"/>
          </a:p>
        </p:txBody>
      </p:sp>
      <p:sp>
        <p:nvSpPr>
          <p:cNvPr id="59" name="Text 17"/>
          <p:cNvSpPr txBox="1"/>
          <p:nvPr/>
        </p:nvSpPr>
        <p:spPr>
          <a:xfrm>
            <a:off x="9006840" y="27889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</a:rPr>
              <a:t>En </a:t>
            </a:r>
            <a:r>
              <a:rPr lang="en-US" sz="1500" dirty="0" err="1">
                <a:solidFill>
                  <a:srgbClr val="F5EEE6"/>
                </a:solidFill>
                <a:latin typeface="Inter" pitchFamily="34" charset="0"/>
                <a:ea typeface="Inter" pitchFamily="34" charset="-122"/>
              </a:rPr>
              <a:t>Churriana</a:t>
            </a:r>
            <a:r>
              <a:rPr lang="en-US" sz="15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</a:rPr>
              <a:t>, </a:t>
            </a:r>
            <a:r>
              <a:rPr lang="en-US" sz="1500" dirty="0" err="1">
                <a:solidFill>
                  <a:srgbClr val="F5EEE6"/>
                </a:solidFill>
                <a:latin typeface="Inter" pitchFamily="34" charset="0"/>
                <a:ea typeface="Inter" pitchFamily="34" charset="-122"/>
              </a:rPr>
              <a:t>el</a:t>
            </a:r>
            <a:r>
              <a:rPr lang="en-US" sz="15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</a:rPr>
              <a:t> triple de la media de Málaga</a:t>
            </a:r>
            <a:endParaRPr lang="en-US" sz="1500" dirty="0"/>
          </a:p>
        </p:txBody>
      </p:sp>
      <p:sp>
        <p:nvSpPr>
          <p:cNvPr id="60" name="Shape 18"/>
          <p:cNvSpPr/>
          <p:nvPr/>
        </p:nvSpPr>
        <p:spPr>
          <a:xfrm>
            <a:off x="9006840" y="470916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3FB8A8"/>
          </a:solidFill>
          <a:ln w="12700">
            <a:solidFill>
              <a:srgbClr val="3FB8A8"/>
            </a:solidFill>
            <a:prstDash val="solid"/>
          </a:ln>
        </p:spPr>
      </p:sp>
      <p:pic>
        <p:nvPicPr>
          <p:cNvPr id="61" name="Image 4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4846320"/>
            <a:ext cx="274320" cy="274320"/>
          </a:xfrm>
          <a:prstGeom prst="rect">
            <a:avLst/>
          </a:prstGeom>
        </p:spPr>
      </p:pic>
      <p:sp>
        <p:nvSpPr>
          <p:cNvPr id="62" name="Text 19"/>
          <p:cNvSpPr txBox="1"/>
          <p:nvPr/>
        </p:nvSpPr>
        <p:spPr>
          <a:xfrm>
            <a:off x="9555480" y="4709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2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H1 confirmada</a:t>
            </a:r>
            <a:endParaRPr lang="en-US" sz="1500" dirty="0"/>
          </a:p>
        </p:txBody>
      </p:sp>
      <p:sp>
        <p:nvSpPr>
          <p:cNvPr id="6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6C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70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SORPRESA</a:t>
            </a:r>
            <a:endParaRPr lang="en-US" sz="1100" dirty="0"/>
          </a:p>
        </p:txBody>
      </p:sp>
      <p:sp>
        <p:nvSpPr>
          <p:cNvPr id="3" name="titulo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 mi </a:t>
            </a:r>
            <a:r>
              <a:rPr lang="en-US" sz="2800" b="1" dirty="0" err="1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hipótesis</a:t>
            </a:r>
            <a:r>
              <a:rPr lang="en-US" sz="28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fuera cierta, estos mapas se parecerían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40503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Dónde hay pisos turísticos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736121" y="1536192"/>
            <a:ext cx="40503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Dónde ven mal el turismo</a:t>
            </a:r>
            <a:endParaRPr lang="en-US" sz="1600" dirty="0"/>
          </a:p>
        </p:txBody>
      </p:sp>
      <p:pic>
        <p:nvPicPr>
          <p:cNvPr id="6" name="Image 0" descr="map_v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4050321" cy="4343400"/>
          </a:xfrm>
          <a:prstGeom prst="rect">
            <a:avLst/>
          </a:prstGeom>
        </p:spPr>
      </p:pic>
      <p:pic>
        <p:nvPicPr>
          <p:cNvPr id="7" name="Image 1" descr="map_ne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121" y="1874520"/>
            <a:ext cx="4050321" cy="4343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915400" y="1600200"/>
            <a:ext cx="2724912" cy="4617720"/>
          </a:xfrm>
          <a:prstGeom prst="roundRect">
            <a:avLst>
              <a:gd name="adj" fmla="val 4027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144000" y="1810512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Centro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231343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09760" y="2240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6.302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0" y="2295144"/>
            <a:ext cx="201168" cy="31089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789920" y="22402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18 %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9144000" y="3182112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4B8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Churriana</a:t>
            </a:r>
            <a:endParaRPr lang="en-US" sz="17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3685032"/>
            <a:ext cx="274320" cy="27432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9509760" y="36118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178</a:t>
            </a:r>
            <a:endParaRPr lang="en-US" sz="16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0" y="3666744"/>
            <a:ext cx="201168" cy="310896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0789920" y="36118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B8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39 %</a:t>
            </a: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>
            <a:off x="9144000" y="4526280"/>
            <a:ext cx="2267712" cy="0"/>
          </a:xfrm>
          <a:prstGeom prst="line">
            <a:avLst/>
          </a:prstGeom>
          <a:noFill/>
          <a:ln w="12700">
            <a:solidFill>
              <a:srgbClr val="28506A"/>
            </a:solidFill>
            <a:prstDash val="solid"/>
          </a:ln>
        </p:spPr>
      </p:sp>
      <p:sp>
        <p:nvSpPr>
          <p:cNvPr id="20" name="Text 12"/>
          <p:cNvSpPr txBox="1"/>
          <p:nvPr/>
        </p:nvSpPr>
        <p:spPr>
          <a:xfrm>
            <a:off x="9144000" y="4663440"/>
            <a:ext cx="2313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4B8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 veces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menos pisos turísticos…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4B8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 más del doble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rechazo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6C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70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¿VAN DE LA MANO?</a:t>
            </a:r>
            <a:endParaRPr lang="en-US" sz="1100" dirty="0"/>
          </a:p>
        </p:txBody>
      </p:sp>
      <p:sp>
        <p:nvSpPr>
          <p:cNvPr id="3" name="titulo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Pisos turísticos y rechazo: una relación débil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Medí la correlación: un número de 0 a 1 que indica si dos cosas suben y bajan juntas.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3246120"/>
            <a:ext cx="1045159" cy="502920"/>
          </a:xfrm>
          <a:prstGeom prst="rect">
            <a:avLst/>
          </a:prstGeom>
          <a:solidFill>
            <a:srgbClr val="21495E"/>
          </a:solidFill>
          <a:ln w="12700">
            <a:solidFill>
              <a:srgbClr val="2149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50415" y="3246120"/>
            <a:ext cx="1045159" cy="502920"/>
          </a:xfrm>
          <a:prstGeom prst="rect">
            <a:avLst/>
          </a:prstGeom>
          <a:solidFill>
            <a:srgbClr val="3A4C67"/>
          </a:solidFill>
          <a:ln w="12700">
            <a:solidFill>
              <a:srgbClr val="3A4C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86430" y="3246120"/>
            <a:ext cx="1045159" cy="502920"/>
          </a:xfrm>
          <a:prstGeom prst="rect">
            <a:avLst/>
          </a:prstGeom>
          <a:solidFill>
            <a:srgbClr val="6E5070"/>
          </a:solidFill>
          <a:ln w="12700">
            <a:solidFill>
              <a:srgbClr val="6E50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2446" y="3246120"/>
            <a:ext cx="1045159" cy="502920"/>
          </a:xfrm>
          <a:prstGeom prst="rect">
            <a:avLst/>
          </a:prstGeom>
          <a:solidFill>
            <a:srgbClr val="9B5470"/>
          </a:solidFill>
          <a:ln w="12700">
            <a:solidFill>
              <a:srgbClr val="9B54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58461" y="3246120"/>
            <a:ext cx="1045159" cy="502920"/>
          </a:xfrm>
          <a:prstGeom prst="rect">
            <a:avLst/>
          </a:prstGeom>
          <a:solidFill>
            <a:srgbClr val="C35E62"/>
          </a:solidFill>
          <a:ln w="12700">
            <a:solidFill>
              <a:srgbClr val="C35E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4476" y="3246120"/>
            <a:ext cx="1045159" cy="502920"/>
          </a:xfrm>
          <a:prstGeom prst="rect">
            <a:avLst/>
          </a:prstGeom>
          <a:solidFill>
            <a:srgbClr val="E8705A"/>
          </a:solidFill>
          <a:ln w="12700">
            <a:solidFill>
              <a:srgbClr val="E870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0491" y="3246120"/>
            <a:ext cx="1045159" cy="502920"/>
          </a:xfrm>
          <a:prstGeom prst="rect">
            <a:avLst/>
          </a:prstGeom>
          <a:solidFill>
            <a:srgbClr val="EE8B5C"/>
          </a:solidFill>
          <a:ln w="12700">
            <a:solidFill>
              <a:srgbClr val="EE8B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66506" y="3246120"/>
            <a:ext cx="1045159" cy="502920"/>
          </a:xfrm>
          <a:prstGeom prst="rect">
            <a:avLst/>
          </a:prstGeom>
          <a:solidFill>
            <a:srgbClr val="F4A45E"/>
          </a:solidFill>
          <a:ln w="12700">
            <a:solidFill>
              <a:srgbClr val="F4A4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02522" y="3246120"/>
            <a:ext cx="1045159" cy="502920"/>
          </a:xfrm>
          <a:prstGeom prst="rect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38537" y="3246120"/>
            <a:ext cx="1045159" cy="502920"/>
          </a:xfrm>
          <a:prstGeom prst="rect">
            <a:avLst/>
          </a:prstGeom>
          <a:solidFill>
            <a:srgbClr val="F7CB86"/>
          </a:solidFill>
          <a:ln w="12700">
            <a:solidFill>
              <a:srgbClr val="F7CB8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858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047238" y="3858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0,25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37276" y="3858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7314" y="3858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0,75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817352" y="3858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tienen nada que ver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439912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 siempre de la mano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193633" y="2926080"/>
            <a:ext cx="0" cy="822960"/>
          </a:xfrm>
          <a:prstGeom prst="line">
            <a:avLst/>
          </a:prstGeom>
          <a:noFill/>
          <a:ln w="38100">
            <a:solidFill>
              <a:srgbClr val="F5EE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87793" y="2148840"/>
            <a:ext cx="2011680" cy="777240"/>
          </a:xfrm>
          <a:prstGeom prst="roundRect">
            <a:avLst>
              <a:gd name="adj" fmla="val 17647"/>
            </a:avLst>
          </a:prstGeom>
          <a:solidFill>
            <a:srgbClr val="F5EEE6"/>
          </a:solidFill>
          <a:ln w="12700">
            <a:solidFill>
              <a:srgbClr val="F5EE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87793" y="21488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22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0,22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3514344" cy="1645920"/>
          </a:xfrm>
          <a:prstGeom prst="roundRect">
            <a:avLst>
              <a:gd name="adj" fmla="val 6667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470916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4B8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comprobé dos veces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074920"/>
            <a:ext cx="3011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Contando pisos: 0,22. Teniendo en cuenta el tamaño de cada distrito (pisos por km²): 0,21. Mismo resultado.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337304" y="4526280"/>
            <a:ext cx="3514344" cy="1645920"/>
          </a:xfrm>
          <a:prstGeom prst="roundRect">
            <a:avLst>
              <a:gd name="adj" fmla="val 6667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11624" y="470916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4B8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significa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611624" y="5074920"/>
            <a:ext cx="3011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Saber cuántos pisos turísticos tiene un distrito apenas ayuda a adivinar cuánto rechazo hay.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25968" y="4526280"/>
            <a:ext cx="3514344" cy="1645920"/>
          </a:xfrm>
          <a:prstGeom prst="roundRect">
            <a:avLst>
              <a:gd name="adj" fmla="val 6667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00288" y="4709160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4B8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 cautela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400288" y="5074920"/>
            <a:ext cx="3011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 solo 11 distritos, y que dos cosas coincidan no significa que una cause la otra.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6C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70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 MAYOR OBSTÁCULO TÉCNICO</a:t>
            </a:r>
            <a:endParaRPr lang="en-US" sz="1100" dirty="0"/>
          </a:p>
        </p:txBody>
      </p:sp>
      <p:sp>
        <p:nvSpPr>
          <p:cNvPr id="3" name="titulo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OpenRTA: 68 MB de registros que no encajaban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645920"/>
            <a:ext cx="1051560" cy="1051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2788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72 campos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108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1.980 registros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1645920"/>
            <a:ext cx="1051560" cy="10515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697480" y="2788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92 campos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2697480" y="3108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10.630 registros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2194560" y="17830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9FB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</a:t>
            </a:r>
            <a:endParaRPr lang="en-US" sz="3600" dirty="0"/>
          </a:p>
        </p:txBody>
      </p:sp>
      <p:sp>
        <p:nvSpPr>
          <p:cNvPr id="11" name="Shape 7"/>
          <p:cNvSpPr/>
          <p:nvPr/>
        </p:nvSpPr>
        <p:spPr>
          <a:xfrm>
            <a:off x="4663440" y="2176272"/>
            <a:ext cx="777240" cy="0"/>
          </a:xfrm>
          <a:prstGeom prst="line">
            <a:avLst/>
          </a:prstGeom>
          <a:noFill/>
          <a:ln w="31750">
            <a:solidFill>
              <a:srgbClr val="F5EEE6"/>
            </a:solidFill>
            <a:prstDash val="solid"/>
            <a:tailEnd type="triangle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1572768"/>
            <a:ext cx="1188720" cy="11887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8640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B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tabla común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548640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12.616 pisos turísticos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14344" cy="2167128"/>
          </a:xfrm>
          <a:prstGeom prst="roundRect">
            <a:avLst>
              <a:gd name="adj" fmla="val 4898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22960" y="416052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0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 ·  EL PROBLEMA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4480560"/>
            <a:ext cx="2965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se podía leer como una tabla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822960" y="5138928"/>
            <a:ext cx="3011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Archivo de OpenRTA de 68 MB con registros de distintas estructuras (principalmente 72 y 92 campos)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337304" y="3931920"/>
            <a:ext cx="3514344" cy="2240280"/>
          </a:xfrm>
          <a:prstGeom prst="roundRect">
            <a:avLst>
              <a:gd name="adj" fmla="val 4898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611624" y="416052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4B8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 ·  LA SOLUCIÓN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4611624" y="4480560"/>
            <a:ext cx="2965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Funciones de Python para unificar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4611624" y="5138928"/>
            <a:ext cx="3011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Identifiqué cada estructura, extraje solo los campos necesarios y los unifiqué en un </a:t>
            </a:r>
            <a:r>
              <a:rPr lang="en-US" sz="1400" dirty="0" err="1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único</a:t>
            </a:r>
            <a:r>
              <a:rPr lang="en-US" sz="14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DataFrame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8125968" y="3931920"/>
            <a:ext cx="3514344" cy="2240280"/>
          </a:xfrm>
          <a:prstGeom prst="roundRect">
            <a:avLst>
              <a:gd name="adj" fmla="val 4898"/>
            </a:avLst>
          </a:prstGeom>
          <a:solidFill>
            <a:srgbClr val="1D4560"/>
          </a:solidFill>
          <a:ln w="12700">
            <a:solidFill>
              <a:srgbClr val="1D4560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8400288" y="4160520"/>
            <a:ext cx="296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B8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 ·  EL APRENDIZAJE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8400288" y="4480560"/>
            <a:ext cx="2965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Explorar antes de transformar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8400288" y="5138928"/>
            <a:ext cx="3011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Validar la estructura de los datos antes de empezar a limpiarlos. Hoy le dedicaría más tiempo a </a:t>
            </a:r>
            <a:r>
              <a:rPr lang="en-US" sz="1400" dirty="0" err="1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esa</a:t>
            </a:r>
            <a:r>
              <a:rPr lang="en-US" sz="14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FB6C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70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LIMITACIONES</a:t>
            </a:r>
            <a:endParaRPr lang="en-US" sz="1100" dirty="0"/>
          </a:p>
        </p:txBody>
      </p:sp>
      <p:sp>
        <p:nvSpPr>
          <p:cNvPr id="3" name="titulo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mis datos no pueden decir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13248" cy="2011680"/>
          </a:xfrm>
          <a:prstGeom prst="roundRect">
            <a:avLst>
              <a:gd name="adj" fmla="val 5455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rgbClr val="1D4560"/>
          </a:solidFill>
          <a:ln w="12700">
            <a:solidFill>
              <a:srgbClr val="1D45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" y="2209190"/>
            <a:ext cx="336499" cy="33649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0116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Solo 11 distritos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7889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5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una muestra pequeña para extraer conclusiones estadísticas generales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36208" y="1691640"/>
            <a:ext cx="5413248" cy="2011680"/>
          </a:xfrm>
          <a:prstGeom prst="roundRect">
            <a:avLst>
              <a:gd name="adj" fmla="val 5455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6248" y="2011680"/>
            <a:ext cx="731520" cy="731520"/>
          </a:xfrm>
          <a:prstGeom prst="ellipse">
            <a:avLst/>
          </a:prstGeom>
          <a:solidFill>
            <a:srgbClr val="1D4560"/>
          </a:solidFill>
          <a:ln w="12700">
            <a:solidFill>
              <a:srgbClr val="1D456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758" y="2209190"/>
            <a:ext cx="336499" cy="33649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62088" y="20116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Correlación</a:t>
            </a:r>
            <a:r>
              <a:rPr lang="en-US" sz="19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≠ </a:t>
            </a:r>
            <a:r>
              <a:rPr lang="en-US" sz="1900" b="1" dirty="0" err="1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causalidad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562088" y="27889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5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podemos afirmar que las VUT provoquen una percepción negativa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413248" cy="2011680"/>
          </a:xfrm>
          <a:prstGeom prst="roundRect">
            <a:avLst>
              <a:gd name="adj" fmla="val 5455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4251960"/>
            <a:ext cx="731520" cy="731520"/>
          </a:xfrm>
          <a:prstGeom prst="ellipse">
            <a:avLst/>
          </a:prstGeom>
          <a:solidFill>
            <a:srgbClr val="1D4560"/>
          </a:solidFill>
          <a:ln w="12700">
            <a:solidFill>
              <a:srgbClr val="1D456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190" y="4449470"/>
            <a:ext cx="336499" cy="33649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74520" y="42519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9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 es una fotografía exacta de 2023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874520" y="50292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5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 por fecha de alta, pero eso no garantiza tener una fotografía histórica exacta de 2023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236208" y="3931920"/>
            <a:ext cx="5413248" cy="2011680"/>
          </a:xfrm>
          <a:prstGeom prst="roundRect">
            <a:avLst>
              <a:gd name="adj" fmla="val 5455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56248" y="4251960"/>
            <a:ext cx="731520" cy="731520"/>
          </a:xfrm>
          <a:prstGeom prst="ellipse">
            <a:avLst/>
          </a:prstGeom>
          <a:solidFill>
            <a:srgbClr val="1D4560"/>
          </a:solidFill>
          <a:ln w="12700">
            <a:solidFill>
              <a:srgbClr val="1D4560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3758" y="4449470"/>
            <a:ext cx="336499" cy="33649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62088" y="42519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Faltan</a:t>
            </a:r>
            <a:r>
              <a:rPr lang="en-US" sz="19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900" b="1" dirty="0" err="1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otras</a:t>
            </a:r>
            <a:r>
              <a:rPr lang="en-US" sz="19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variables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7562088" y="50292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5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Población, precios de vivienda, ruido o movilidad podrían ayudar a entender los resultados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6C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70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3" name="titulo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¿Acerté con mi </a:t>
            </a:r>
            <a:r>
              <a:rPr lang="en-US" sz="2800" b="1" dirty="0" err="1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hipótesis</a:t>
            </a:r>
            <a:r>
              <a:rPr lang="en-US" sz="28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 A medias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594360" cy="594360"/>
          </a:xfrm>
          <a:prstGeom prst="ellipse">
            <a:avLst/>
          </a:prstGeom>
          <a:solidFill>
            <a:srgbClr val="3FB8A8"/>
          </a:solidFill>
          <a:ln w="12700">
            <a:solidFill>
              <a:srgbClr val="3FB8A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717" y="2034997"/>
            <a:ext cx="273406" cy="2734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69164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B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16916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barrio lo vive distinto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169164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B8A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SÍ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16916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0 % de rechazo en Campanillas al 39 % de </a:t>
            </a:r>
            <a:r>
              <a:rPr lang="en-US" sz="1400" dirty="0" err="1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Churriana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807208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2990088"/>
            <a:ext cx="594360" cy="594360"/>
          </a:xfrm>
          <a:prstGeom prst="ellipse">
            <a:avLst/>
          </a:prstGeom>
          <a:solidFill>
            <a:srgbClr val="E8705A"/>
          </a:solidFill>
          <a:ln w="12700">
            <a:solidFill>
              <a:srgbClr val="E8705A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717" y="3150565"/>
            <a:ext cx="273406" cy="27340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00200" y="280720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B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H2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2240280" y="280720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Más presión, más rechazo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6035040" y="2807208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7680960" y="280720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Centro tiene la presión; Churriana, </a:t>
            </a:r>
            <a:r>
              <a:rPr lang="en-US" sz="1400" dirty="0" err="1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</a:t>
            </a:r>
            <a:r>
              <a:rPr lang="en-US" sz="14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malestar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48640" y="3922776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77240" y="4105656"/>
            <a:ext cx="594360" cy="594360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717" y="4266133"/>
            <a:ext cx="273406" cy="27340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00200" y="3922776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B6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H3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2240280" y="3922776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pisos turísticos lo explican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6035040" y="3922776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B8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PARTE</a:t>
            </a:r>
            <a:endParaRPr lang="en-US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7680960" y="3922776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Hay relación, pero débil: 0,22 </a:t>
            </a:r>
            <a:r>
              <a:rPr lang="en-US" sz="1400" dirty="0" err="1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</a:t>
            </a:r>
            <a:r>
              <a:rPr lang="en-US" sz="14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548640" y="512064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1D4560"/>
          </a:solidFill>
          <a:ln w="12700">
            <a:solidFill>
              <a:srgbClr val="1D456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22960" y="5367528"/>
            <a:ext cx="566928" cy="566928"/>
          </a:xfrm>
          <a:prstGeom prst="ellipse">
            <a:avLst/>
          </a:prstGeom>
          <a:solidFill>
            <a:srgbClr val="F4B860"/>
          </a:solidFill>
          <a:ln w="12700">
            <a:solidFill>
              <a:srgbClr val="F4B860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361" y="5514929"/>
            <a:ext cx="272125" cy="27212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645919" y="5120640"/>
            <a:ext cx="1014179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Contar pisos turísticos no basta para medir el malestar de </a:t>
            </a:r>
            <a:r>
              <a:rPr lang="en-US" sz="2100" b="1" dirty="0" err="1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</a:t>
            </a:r>
            <a:r>
              <a:rPr lang="en-US" sz="21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2100" b="1" dirty="0" err="1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residentes</a:t>
            </a:r>
            <a:endParaRPr lang="en-US" sz="21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6C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70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¿Y AHORA QUÉ?</a:t>
            </a:r>
            <a:endParaRPr lang="en-US" sz="1100" dirty="0"/>
          </a:p>
        </p:txBody>
      </p:sp>
      <p:sp>
        <p:nvSpPr>
          <p:cNvPr id="3" name="titulo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 yo fuera el Ayuntamiento…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58368" cy="658368"/>
          </a:xfrm>
          <a:prstGeom prst="ellipse">
            <a:avLst/>
          </a:prstGeom>
          <a:solidFill>
            <a:srgbClr val="E8705A"/>
          </a:solidFill>
          <a:ln w="12700">
            <a:solidFill>
              <a:srgbClr val="E870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2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3736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decidiría solo por el número de pisos turísticos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658368" cy="658368"/>
          </a:xfrm>
          <a:prstGeom prst="ellipse">
            <a:avLst/>
          </a:prstGeom>
          <a:solidFill>
            <a:srgbClr val="E8705A"/>
          </a:solidFill>
          <a:ln w="12700">
            <a:solidFill>
              <a:srgbClr val="E87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51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2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65176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Escucharía a los vecinos de cada distrito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658368" cy="658368"/>
          </a:xfrm>
          <a:prstGeom prst="ellipse">
            <a:avLst/>
          </a:prstGeom>
          <a:solidFill>
            <a:srgbClr val="E8705A"/>
          </a:solidFill>
          <a:ln w="12700">
            <a:solidFill>
              <a:srgbClr val="E870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566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23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56616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Empezaría por entender qué pasa en Churriana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5989320" cy="1554480"/>
          </a:xfrm>
          <a:prstGeom prst="roundRect">
            <a:avLst>
              <a:gd name="adj" fmla="val 7059"/>
            </a:avLst>
          </a:prstGeom>
          <a:solidFill>
            <a:srgbClr val="15354A"/>
          </a:solidFill>
          <a:ln w="12700">
            <a:solidFill>
              <a:srgbClr val="1535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70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PRÓXIMOS PASOS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5193792"/>
            <a:ext cx="1903781" cy="347472"/>
          </a:xfrm>
          <a:prstGeom prst="roundRect">
            <a:avLst>
              <a:gd name="adj" fmla="val 50000"/>
            </a:avLst>
          </a:prstGeom>
          <a:solidFill>
            <a:srgbClr val="1D4560"/>
          </a:solidFill>
          <a:ln w="12700">
            <a:solidFill>
              <a:srgbClr val="1D45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93792"/>
            <a:ext cx="19037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Pisos por habitante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63901" y="5193792"/>
            <a:ext cx="2083003" cy="347472"/>
          </a:xfrm>
          <a:prstGeom prst="roundRect">
            <a:avLst>
              <a:gd name="adj" fmla="val 50000"/>
            </a:avLst>
          </a:prstGeom>
          <a:solidFill>
            <a:srgbClr val="1D4560"/>
          </a:solidFill>
          <a:ln w="12700">
            <a:solidFill>
              <a:srgbClr val="1D456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63901" y="5193792"/>
            <a:ext cx="2083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Precio de la vivienda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84064" y="5193792"/>
            <a:ext cx="1186891" cy="347472"/>
          </a:xfrm>
          <a:prstGeom prst="roundRect">
            <a:avLst>
              <a:gd name="adj" fmla="val 50000"/>
            </a:avLst>
          </a:prstGeom>
          <a:solidFill>
            <a:srgbClr val="1D4560"/>
          </a:solidFill>
          <a:ln w="12700">
            <a:solidFill>
              <a:srgbClr val="1D456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84064" y="5193792"/>
            <a:ext cx="11868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Varios años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5650992"/>
            <a:ext cx="1186891" cy="347472"/>
          </a:xfrm>
          <a:prstGeom prst="roundRect">
            <a:avLst>
              <a:gd name="adj" fmla="val 50000"/>
            </a:avLst>
          </a:prstGeom>
          <a:solidFill>
            <a:srgbClr val="1D4560"/>
          </a:solidFill>
          <a:ln w="12700">
            <a:solidFill>
              <a:srgbClr val="1D456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5650992"/>
            <a:ext cx="11868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barrios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47011" y="5650992"/>
            <a:ext cx="1007669" cy="347472"/>
          </a:xfrm>
          <a:prstGeom prst="roundRect">
            <a:avLst>
              <a:gd name="adj" fmla="val 50000"/>
            </a:avLst>
          </a:prstGeom>
          <a:solidFill>
            <a:srgbClr val="1D4560"/>
          </a:solidFill>
          <a:ln w="12700">
            <a:solidFill>
              <a:srgbClr val="1D456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47011" y="5650992"/>
            <a:ext cx="10076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0" y="1691640"/>
            <a:ext cx="4782312" cy="4480560"/>
          </a:xfrm>
          <a:prstGeom prst="roundRect">
            <a:avLst>
              <a:gd name="adj" fmla="val 2449"/>
            </a:avLst>
          </a:prstGeom>
          <a:solidFill>
            <a:srgbClr val="1D4560"/>
          </a:solidFill>
          <a:ln w="12700">
            <a:solidFill>
              <a:srgbClr val="1D45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0" y="2148840"/>
            <a:ext cx="777240" cy="777240"/>
          </a:xfrm>
          <a:prstGeom prst="ellipse">
            <a:avLst/>
          </a:prstGeom>
          <a:solidFill>
            <a:srgbClr val="0D2230"/>
          </a:solidFill>
          <a:ln w="12700">
            <a:solidFill>
              <a:srgbClr val="0D2230"/>
            </a:solidFill>
            <a:prstDash val="solid"/>
          </a:ln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858" y="2335378"/>
            <a:ext cx="404165" cy="404165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7132320" y="31546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70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PREGUNTA QUE ME LLEVO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132320" y="35204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4B8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¿Por qué Churriana?</a:t>
            </a:r>
            <a:endParaRPr lang="en-US" sz="3000" dirty="0"/>
          </a:p>
        </p:txBody>
      </p:sp>
      <p:sp>
        <p:nvSpPr>
          <p:cNvPr id="30" name="Text 27"/>
          <p:cNvSpPr txBox="1"/>
          <p:nvPr/>
        </p:nvSpPr>
        <p:spPr>
          <a:xfrm>
            <a:off x="7132320" y="43434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Allí está el aeropuerto. </a:t>
            </a:r>
          </a:p>
          <a:p>
            <a:pPr marL="0" indent="0">
              <a:buNone/>
            </a:pPr>
            <a:endParaRPr lang="en-US" sz="1600" dirty="0">
              <a:solidFill>
                <a:srgbClr val="F5EEE6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¿Será el ruido, el tráfico, la movilidad…? Mis datos no lo responden todavía: es </a:t>
            </a:r>
            <a:r>
              <a:rPr lang="en-US" sz="1600" dirty="0" err="1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</a:t>
            </a:r>
            <a:r>
              <a:rPr lang="en-US" sz="1600" dirty="0">
                <a:solidFill>
                  <a:srgbClr val="F5E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siguiente paso.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6C3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p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20040"/>
            <a:ext cx="5623377" cy="603138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675120" y="2589319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7200" b="1" dirty="0">
                <a:solidFill>
                  <a:srgbClr val="F5E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Gracias</a:t>
            </a:r>
            <a:endParaRPr lang="en-US" sz="7200" dirty="0"/>
          </a:p>
        </p:txBody>
      </p:sp>
      <p:sp>
        <p:nvSpPr>
          <p:cNvPr id="4" name="Text 1"/>
          <p:cNvSpPr txBox="1"/>
          <p:nvPr/>
        </p:nvSpPr>
        <p:spPr>
          <a:xfrm>
            <a:off x="6675120" y="3778039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870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vuestra atención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4367833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6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Beatriz Fernández  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laga bajo presion">
  <a:themeElements>
    <a:clrScheme name="Malaga bajo presion">
      <a:dk1>
        <a:srgbClr val="0D2230"/>
      </a:dk1>
      <a:lt1>
        <a:srgbClr val="F5EEE6"/>
      </a:lt1>
      <a:dk2>
        <a:srgbClr val="15354A"/>
      </a:dk2>
      <a:lt2>
        <a:srgbClr val="9FB6C3"/>
      </a:lt2>
      <a:accent1>
        <a:srgbClr val="E8705A"/>
      </a:accent1>
      <a:accent2>
        <a:srgbClr val="F4B860"/>
      </a:accent2>
      <a:accent3>
        <a:srgbClr val="3FB8A8"/>
      </a:accent3>
      <a:accent4>
        <a:srgbClr val="B5546A"/>
      </a:accent4>
      <a:accent5>
        <a:srgbClr val="21495E"/>
      </a:accent5>
      <a:accent6>
        <a:srgbClr val="4E4E6B"/>
      </a:accent6>
      <a:hlink>
        <a:srgbClr val="F4B860"/>
      </a:hlink>
      <a:folHlink>
        <a:srgbClr val="9FB6C3"/>
      </a:folHlink>
    </a:clrScheme>
    <a:fontScheme name="Malaga bajo presion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1166</TotalTime>
  <Words>1128</Words>
  <Application>Microsoft Office PowerPoint</Application>
  <PresentationFormat>Panorámica</PresentationFormat>
  <Paragraphs>249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Inter</vt:lpstr>
      <vt:lpstr>Poppins</vt:lpstr>
      <vt:lpstr>Malaga bajo presion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Málaga bajo presión</dc:title>
  <dc:subject>¿Molesta más el turismo donde hay más pisos turísticos?</dc:subject>
  <dc:creator>Beatriz Fernández</dc:creator>
  <cp:lastModifiedBy>José Ramón Fernández</cp:lastModifiedBy>
  <cp:revision>28</cp:revision>
  <dcterms:created xsi:type="dcterms:W3CDTF">2026-10-07T17:22:38Z</dcterms:created>
  <dcterms:modified xsi:type="dcterms:W3CDTF">2026-10-09T09:18:58Z</dcterms:modified>
</cp:coreProperties>
</file>